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jx618Ck8PR6+Y8bXXrzpHKSZ+S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9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22" name="Google Shape;22;p39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1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37" name="Google Shape;37;p4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1" name="Google Shape;41;p42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3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43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9" name="Google Shape;49;p43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6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6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6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7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</p:sp>
      <p:sp>
        <p:nvSpPr>
          <p:cNvPr id="79" name="Google Shape;79;p47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8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4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9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9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4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3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3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13" name="Google Shape;13;p38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chlinux.org/packages/?name=systemd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rchlinux.org/news/systemd-is-now-the-default-on-new-installations/" TargetMode="External"/><Relationship Id="rId4" Type="http://schemas.openxmlformats.org/officeDocument/2006/relationships/hyperlink" Target="https://www.archlinux.org/packages/?name=systemd-sysvcompa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smarden.org/runit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gnu.org/licenses/gpl.txt" TargetMode="External"/><Relationship Id="rId4" Type="http://schemas.openxmlformats.org/officeDocument/2006/relationships/hyperlink" Target="http://cr.yp.to/daemontools.html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lang="es-ES"/>
              <a:t>Unidad 2</a:t>
            </a:r>
            <a:br>
              <a:rPr lang="es-ES"/>
            </a:br>
            <a:r>
              <a:rPr lang="es-ES"/>
              <a:t>Inicio: Arranque del sistema</a:t>
            </a:r>
            <a:endParaRPr/>
          </a:p>
        </p:txBody>
      </p:sp>
      <p:sp>
        <p:nvSpPr>
          <p:cNvPr id="102" name="Google Shape;102;p1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/>
              <a:t>ELABORADO POR: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s-ES"/>
              <a:t>MCE. YEINY ROMERO HERNANDEZ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677334" y="596537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Objetivo Específico </a:t>
            </a: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1096963" y="2130933"/>
            <a:ext cx="10058400" cy="3453383"/>
            <a:chOff x="0" y="284670"/>
            <a:chExt cx="10058400" cy="3453383"/>
          </a:xfrm>
        </p:grpSpPr>
        <p:sp>
          <p:nvSpPr>
            <p:cNvPr id="109" name="Google Shape;109;p2"/>
            <p:cNvSpPr/>
            <p:nvPr/>
          </p:nvSpPr>
          <p:spPr>
            <a:xfrm>
              <a:off x="402336" y="720534"/>
              <a:ext cx="9656064" cy="3017519"/>
            </a:xfrm>
            <a:prstGeom prst="rect">
              <a:avLst/>
            </a:prstGeom>
            <a:solidFill>
              <a:schemeClr val="lt1">
                <a:alpha val="40000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402336" y="720534"/>
              <a:ext cx="9656064" cy="30175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43850" tIns="186675" rIns="186675" bIns="18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900"/>
                <a:buFont typeface="Calibri"/>
                <a:buNone/>
              </a:pPr>
              <a:r>
                <a:rPr lang="es-ES" sz="4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Alumno utilizará los comandos para el proceso de arranque y baja del sistema </a:t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0" y="284670"/>
              <a:ext cx="2112264" cy="3168396"/>
            </a:xfrm>
            <a:prstGeom prst="rect">
              <a:avLst/>
            </a:prstGeom>
            <a:solidFill>
              <a:srgbClr val="BADBF2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TEMARIO DE LA UNIDAD</a:t>
            </a:r>
            <a:endParaRPr/>
          </a:p>
        </p:txBody>
      </p:sp>
      <p:grpSp>
        <p:nvGrpSpPr>
          <p:cNvPr id="117" name="Google Shape;117;p3"/>
          <p:cNvGrpSpPr/>
          <p:nvPr/>
        </p:nvGrpSpPr>
        <p:grpSpPr>
          <a:xfrm>
            <a:off x="1096963" y="1846263"/>
            <a:ext cx="10058399" cy="4022724"/>
            <a:chOff x="0" y="0"/>
            <a:chExt cx="10058399" cy="4022724"/>
          </a:xfrm>
        </p:grpSpPr>
        <p:sp>
          <p:nvSpPr>
            <p:cNvPr id="118" name="Google Shape;118;p3"/>
            <p:cNvSpPr/>
            <p:nvPr/>
          </p:nvSpPr>
          <p:spPr>
            <a:xfrm>
              <a:off x="0" y="0"/>
              <a:ext cx="4022724" cy="4022724"/>
            </a:xfrm>
            <a:prstGeom prst="pie">
              <a:avLst>
                <a:gd name="adj1" fmla="val 5400000"/>
                <a:gd name="adj2" fmla="val 1620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011362" y="0"/>
              <a:ext cx="8047037" cy="402272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2011362" y="0"/>
              <a:ext cx="8047037" cy="12068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5725" tIns="125725" rIns="125725" bIns="125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rPr lang="es-ES" sz="33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2.1 Proceso de arranque. </a:t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703978" y="1206820"/>
              <a:ext cx="2614768" cy="2614768"/>
            </a:xfrm>
            <a:prstGeom prst="pie">
              <a:avLst>
                <a:gd name="adj1" fmla="val 5400000"/>
                <a:gd name="adj2" fmla="val 1620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2011362" y="1206820"/>
              <a:ext cx="8047037" cy="2614768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2011362" y="1206820"/>
              <a:ext cx="8047037" cy="1206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5725" tIns="125725" rIns="125725" bIns="125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rPr lang="es-ES" sz="33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2.2 Niveles de operación del sistema. </a:t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1407954" y="2413636"/>
              <a:ext cx="1206816" cy="1206816"/>
            </a:xfrm>
            <a:prstGeom prst="pie">
              <a:avLst>
                <a:gd name="adj1" fmla="val 5400000"/>
                <a:gd name="adj2" fmla="val 1620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011362" y="2413636"/>
              <a:ext cx="8047037" cy="1206816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2011362" y="2413636"/>
              <a:ext cx="8047037" cy="1206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5725" tIns="125725" rIns="125725" bIns="125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rPr lang="es-ES" sz="33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2.3 Comandos de arranque y baja del sistema 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Introducción</a:t>
            </a:r>
            <a:endParaRPr/>
          </a:p>
        </p:txBody>
      </p:sp>
      <p:grpSp>
        <p:nvGrpSpPr>
          <p:cNvPr id="132" name="Google Shape;132;p4"/>
          <p:cNvGrpSpPr/>
          <p:nvPr/>
        </p:nvGrpSpPr>
        <p:grpSpPr>
          <a:xfrm>
            <a:off x="1096963" y="1846263"/>
            <a:ext cx="10058399" cy="4022724"/>
            <a:chOff x="0" y="0"/>
            <a:chExt cx="10058399" cy="4022724"/>
          </a:xfrm>
        </p:grpSpPr>
        <p:sp>
          <p:nvSpPr>
            <p:cNvPr id="133" name="Google Shape;133;p4"/>
            <p:cNvSpPr/>
            <p:nvPr/>
          </p:nvSpPr>
          <p:spPr>
            <a:xfrm>
              <a:off x="0" y="0"/>
              <a:ext cx="4022724" cy="4022724"/>
            </a:xfrm>
            <a:prstGeom prst="pie">
              <a:avLst>
                <a:gd name="adj1" fmla="val 5400000"/>
                <a:gd name="adj2" fmla="val 1620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2011362" y="0"/>
              <a:ext cx="8047037" cy="402272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2011362" y="0"/>
              <a:ext cx="4023518" cy="1910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es-E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la secuencia de arranque del sistema existirán menos errores si se apaga correctamente con </a:t>
              </a:r>
              <a:r>
                <a:rPr lang="es-E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SHUTDOWN</a:t>
              </a:r>
              <a:r>
                <a:rPr lang="es-E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1055965" y="1910794"/>
              <a:ext cx="1910794" cy="1910794"/>
            </a:xfrm>
            <a:prstGeom prst="pie">
              <a:avLst>
                <a:gd name="adj1" fmla="val 5400000"/>
                <a:gd name="adj2" fmla="val 1620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011362" y="1910794"/>
              <a:ext cx="8047037" cy="191079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2011362" y="1910794"/>
              <a:ext cx="4023518" cy="1910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es-E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Dicha secuencia consta de 2 fases:</a:t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6034881" y="1910794"/>
              <a:ext cx="4023518" cy="1910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6034881" y="1910794"/>
              <a:ext cx="4023518" cy="1910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0475" tIns="110475" rIns="110475" bIns="1104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•"/>
              </a:pPr>
              <a:r>
                <a:rPr lang="es-ES" sz="2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Sec. Arranque de la ROM</a:t>
              </a:r>
              <a:endParaRPr/>
            </a:p>
            <a:p>
              <a:pPr marL="285750" marR="0" lvl="1" indent="-285750" algn="l" rtl="0">
                <a:lnSpc>
                  <a:spcPct val="90000"/>
                </a:lnSpc>
                <a:spcBef>
                  <a:spcPts val="435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•"/>
              </a:pPr>
              <a:r>
                <a:rPr lang="es-ES" sz="2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Sec. Arranque del SO Linux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2.1 Proceso de arranque. </a:t>
            </a:r>
            <a:endParaRPr/>
          </a:p>
        </p:txBody>
      </p:sp>
      <p:grpSp>
        <p:nvGrpSpPr>
          <p:cNvPr id="146" name="Google Shape;146;p5"/>
          <p:cNvGrpSpPr/>
          <p:nvPr/>
        </p:nvGrpSpPr>
        <p:grpSpPr>
          <a:xfrm>
            <a:off x="1101874" y="1846263"/>
            <a:ext cx="10048577" cy="4022725"/>
            <a:chOff x="4911" y="0"/>
            <a:chExt cx="10048577" cy="4022725"/>
          </a:xfrm>
        </p:grpSpPr>
        <p:sp>
          <p:nvSpPr>
            <p:cNvPr id="147" name="Google Shape;147;p5"/>
            <p:cNvSpPr/>
            <p:nvPr/>
          </p:nvSpPr>
          <p:spPr>
            <a:xfrm>
              <a:off x="4911" y="0"/>
              <a:ext cx="10048577" cy="4022725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122733" y="117822"/>
              <a:ext cx="9812933" cy="3787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182875" rIns="182875" bIns="182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Calibri"/>
                <a:buNone/>
              </a:pPr>
              <a:r>
                <a:rPr lang="es-ES" sz="4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Incluye varias comprobaciones de sanidad, y con frecuencia tratará de reparar cualquier daño encontrado, especialmente daños en el disco duro.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>
            <a:spLocks noGrp="1"/>
          </p:cNvSpPr>
          <p:nvPr>
            <p:ph type="title"/>
          </p:nvPr>
        </p:nvSpPr>
        <p:spPr>
          <a:xfrm>
            <a:off x="768774" y="472941"/>
            <a:ext cx="8596668" cy="76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ROM</a:t>
            </a:r>
            <a:endParaRPr/>
          </a:p>
        </p:txBody>
      </p:sp>
      <p:grpSp>
        <p:nvGrpSpPr>
          <p:cNvPr id="154" name="Google Shape;154;p6"/>
          <p:cNvGrpSpPr/>
          <p:nvPr/>
        </p:nvGrpSpPr>
        <p:grpSpPr>
          <a:xfrm>
            <a:off x="3216290" y="1135469"/>
            <a:ext cx="5925889" cy="5720401"/>
            <a:chOff x="2538957" y="2128"/>
            <a:chExt cx="5925889" cy="5720401"/>
          </a:xfrm>
        </p:grpSpPr>
        <p:sp>
          <p:nvSpPr>
            <p:cNvPr id="155" name="Google Shape;155;p6"/>
            <p:cNvSpPr/>
            <p:nvPr/>
          </p:nvSpPr>
          <p:spPr>
            <a:xfrm>
              <a:off x="4638200" y="2128"/>
              <a:ext cx="1727403" cy="1727403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4891172" y="255100"/>
              <a:ext cx="1221459" cy="1221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Contiene el programa de inicio de la pc</a:t>
              </a: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 rot="2160000">
              <a:off x="6311136" y="1329278"/>
              <a:ext cx="459723" cy="582998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6"/>
            <p:cNvSpPr txBox="1"/>
            <p:nvPr/>
          </p:nvSpPr>
          <p:spPr>
            <a:xfrm rot="2160000">
              <a:off x="6324306" y="1405345"/>
              <a:ext cx="321806" cy="349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6737443" y="1527318"/>
              <a:ext cx="1727403" cy="1727403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6990415" y="1780290"/>
              <a:ext cx="1221459" cy="1221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Realiza comprobación de todo el hardware</a:t>
              </a: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 rot="6480000">
              <a:off x="6974384" y="3321050"/>
              <a:ext cx="459723" cy="582998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6"/>
            <p:cNvSpPr txBox="1"/>
            <p:nvPr/>
          </p:nvSpPr>
          <p:spPr>
            <a:xfrm rot="-4320000">
              <a:off x="7064652" y="3372067"/>
              <a:ext cx="321806" cy="349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5935604" y="3995126"/>
              <a:ext cx="1727403" cy="1727403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6"/>
            <p:cNvSpPr txBox="1"/>
            <p:nvPr/>
          </p:nvSpPr>
          <p:spPr>
            <a:xfrm>
              <a:off x="6188576" y="4248098"/>
              <a:ext cx="1221459" cy="1221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Lee el disco programa cargador</a:t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 rot="10800000">
              <a:off x="5285051" y="4567329"/>
              <a:ext cx="459723" cy="582998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5422968" y="4683929"/>
              <a:ext cx="321806" cy="349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3340796" y="3995126"/>
              <a:ext cx="1727403" cy="1727403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3593768" y="4248098"/>
              <a:ext cx="1221459" cy="1221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Cargara en memoria el núcleo Linux</a:t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 rot="-6480000">
              <a:off x="3577737" y="3345799"/>
              <a:ext cx="459723" cy="582998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 txBox="1"/>
            <p:nvPr/>
          </p:nvSpPr>
          <p:spPr>
            <a:xfrm rot="4320000">
              <a:off x="3668005" y="3527982"/>
              <a:ext cx="321806" cy="349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2538957" y="1527318"/>
              <a:ext cx="1727403" cy="1727403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2791929" y="1780290"/>
              <a:ext cx="1221459" cy="1221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Tendrá control el núcleo (boot) vmlinuz en el sist. archivos</a:t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 rot="-2160000">
              <a:off x="4211892" y="1344573"/>
              <a:ext cx="459723" cy="582998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 txBox="1"/>
            <p:nvPr/>
          </p:nvSpPr>
          <p:spPr>
            <a:xfrm rot="-2160000">
              <a:off x="4225062" y="1501706"/>
              <a:ext cx="321806" cy="349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97510" y="172264"/>
            <a:ext cx="1740922" cy="2898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35440" y="3753174"/>
            <a:ext cx="2231761" cy="299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303" y="3877560"/>
            <a:ext cx="1231204" cy="2745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1303" y="1133341"/>
            <a:ext cx="1859204" cy="222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2.1 Proceso de arranque. </a:t>
            </a:r>
            <a:endParaRPr/>
          </a:p>
        </p:txBody>
      </p:sp>
      <p:grpSp>
        <p:nvGrpSpPr>
          <p:cNvPr id="184" name="Google Shape;184;p7"/>
          <p:cNvGrpSpPr/>
          <p:nvPr/>
        </p:nvGrpSpPr>
        <p:grpSpPr>
          <a:xfrm>
            <a:off x="677334" y="1773125"/>
            <a:ext cx="8596668" cy="4259520"/>
            <a:chOff x="0" y="8718"/>
            <a:chExt cx="8596668" cy="4259520"/>
          </a:xfrm>
        </p:grpSpPr>
        <p:sp>
          <p:nvSpPr>
            <p:cNvPr id="185" name="Google Shape;185;p7"/>
            <p:cNvSpPr/>
            <p:nvPr/>
          </p:nvSpPr>
          <p:spPr>
            <a:xfrm>
              <a:off x="0" y="8718"/>
              <a:ext cx="8596668" cy="921600"/>
            </a:xfrm>
            <a:prstGeom prst="rect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7"/>
            <p:cNvSpPr txBox="1"/>
            <p:nvPr/>
          </p:nvSpPr>
          <p:spPr>
            <a:xfrm>
              <a:off x="0" y="8718"/>
              <a:ext cx="8596668" cy="9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575" tIns="130025" rIns="227575" bIns="130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lang="es-E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LLEVA  ACABO EN 3 PARTES:</a:t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0" y="930318"/>
              <a:ext cx="8596668" cy="3337920"/>
            </a:xfrm>
            <a:prstGeom prst="rect">
              <a:avLst/>
            </a:prstGeom>
            <a:solidFill>
              <a:srgbClr val="CBE2F5">
                <a:alpha val="90196"/>
              </a:srgbClr>
            </a:solidFill>
            <a:ln w="12700" cap="flat" cmpd="sng">
              <a:solidFill>
                <a:srgbClr val="CBE2F5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0" y="930318"/>
              <a:ext cx="8596668" cy="3337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675" tIns="170675" rIns="227575" bIns="256025" anchor="t" anchorCtr="0">
              <a:noAutofit/>
            </a:bodyPr>
            <a:lstStyle/>
            <a:p>
              <a:pPr marL="285750" marR="0" lvl="1" indent="-28575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Char char="•"/>
              </a:pPr>
              <a:r>
                <a:rPr lang="es-E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Inicialmente se realiza Secuencia de arranque del ROM</a:t>
              </a:r>
              <a:endParaRPr/>
            </a:p>
            <a:p>
              <a:pPr marL="285750" marR="0" lvl="1" indent="-285750" algn="just" rtl="0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Char char="•"/>
              </a:pPr>
              <a:r>
                <a:rPr lang="es-E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carga SO en memoria</a:t>
              </a:r>
              <a:endParaRPr/>
            </a:p>
            <a:p>
              <a:pPr marL="285750" marR="0" lvl="1" indent="-285750" algn="just" rtl="0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Char char="•"/>
              </a:pPr>
              <a:r>
                <a:rPr lang="es-E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pasa al gestor de arranque o Boot Manager que nos permite definir con cual queremos iniciar</a:t>
              </a:r>
              <a:endParaRPr/>
            </a:p>
          </p:txBody>
        </p:sp>
      </p:grpSp>
      <p:pic>
        <p:nvPicPr>
          <p:cNvPr id="189" name="Google Shape;18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08485" y="59432"/>
            <a:ext cx="2047875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¿Que es el Boot?</a:t>
            </a:r>
            <a:endParaRPr/>
          </a:p>
        </p:txBody>
      </p:sp>
      <p:grpSp>
        <p:nvGrpSpPr>
          <p:cNvPr id="195" name="Google Shape;195;p8"/>
          <p:cNvGrpSpPr/>
          <p:nvPr/>
        </p:nvGrpSpPr>
        <p:grpSpPr>
          <a:xfrm>
            <a:off x="1097085" y="1846263"/>
            <a:ext cx="10058154" cy="4022725"/>
            <a:chOff x="122" y="0"/>
            <a:chExt cx="10058154" cy="4022725"/>
          </a:xfrm>
        </p:grpSpPr>
        <p:sp>
          <p:nvSpPr>
            <p:cNvPr id="196" name="Google Shape;196;p8"/>
            <p:cNvSpPr/>
            <p:nvPr/>
          </p:nvSpPr>
          <p:spPr>
            <a:xfrm>
              <a:off x="754379" y="0"/>
              <a:ext cx="8549640" cy="402272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BE2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22" y="1206817"/>
              <a:ext cx="4906416" cy="160909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8"/>
            <p:cNvSpPr txBox="1"/>
            <p:nvPr/>
          </p:nvSpPr>
          <p:spPr>
            <a:xfrm>
              <a:off x="78671" y="1285366"/>
              <a:ext cx="4749318" cy="1451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s-ES" sz="2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término se utilizar para cualquier proceso en el que un sistema simple activa a otro más complejo.</a:t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5151860" y="1206817"/>
              <a:ext cx="4906416" cy="160909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8"/>
            <p:cNvSpPr txBox="1"/>
            <p:nvPr/>
          </p:nvSpPr>
          <p:spPr>
            <a:xfrm>
              <a:off x="5230409" y="1285366"/>
              <a:ext cx="4749318" cy="1451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s-ES" sz="2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 el concepto de arrancar un sistema a partir de una parte pequeña del mismo.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s-ES"/>
              <a:t>En esta fase el sistema se inicia pasando el control a la BIOS </a:t>
            </a:r>
            <a:br>
              <a:rPr lang="es-ES"/>
            </a:br>
            <a:endParaRPr/>
          </a:p>
        </p:txBody>
      </p:sp>
      <p:grpSp>
        <p:nvGrpSpPr>
          <p:cNvPr id="206" name="Google Shape;206;p9"/>
          <p:cNvGrpSpPr/>
          <p:nvPr/>
        </p:nvGrpSpPr>
        <p:grpSpPr>
          <a:xfrm>
            <a:off x="682019" y="2726824"/>
            <a:ext cx="10651855" cy="2285884"/>
            <a:chOff x="4685" y="1028653"/>
            <a:chExt cx="10651855" cy="2285884"/>
          </a:xfrm>
        </p:grpSpPr>
        <p:sp>
          <p:nvSpPr>
            <p:cNvPr id="207" name="Google Shape;207;p9"/>
            <p:cNvSpPr/>
            <p:nvPr/>
          </p:nvSpPr>
          <p:spPr>
            <a:xfrm>
              <a:off x="4685" y="1028653"/>
              <a:ext cx="2048433" cy="228588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 txBox="1"/>
            <p:nvPr/>
          </p:nvSpPr>
          <p:spPr>
            <a:xfrm>
              <a:off x="64682" y="1088650"/>
              <a:ext cx="1928439" cy="2165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BIOS es un pequeño programa que se encuentra grabado en una memoria en la placa base. </a:t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2257962" y="1917589"/>
              <a:ext cx="434267" cy="508011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 txBox="1"/>
            <p:nvPr/>
          </p:nvSpPr>
          <p:spPr>
            <a:xfrm>
              <a:off x="2257962" y="2019191"/>
              <a:ext cx="303987" cy="304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2872492" y="1028653"/>
              <a:ext cx="2048433" cy="228588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 txBox="1"/>
            <p:nvPr/>
          </p:nvSpPr>
          <p:spPr>
            <a:xfrm>
              <a:off x="2932489" y="1088650"/>
              <a:ext cx="1928439" cy="2165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 memoria ha evolucionado desde ROM-&gt;PROM-&gt;EPROM&gt;Memoria Flash. Alimentado continuamente (batería) </a:t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5125769" y="1917589"/>
              <a:ext cx="434267" cy="508011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 txBox="1"/>
            <p:nvPr/>
          </p:nvSpPr>
          <p:spPr>
            <a:xfrm>
              <a:off x="5125769" y="2019191"/>
              <a:ext cx="303987" cy="304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5740299" y="1028653"/>
              <a:ext cx="2048433" cy="228588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 txBox="1"/>
            <p:nvPr/>
          </p:nvSpPr>
          <p:spPr>
            <a:xfrm>
              <a:off x="5800296" y="1088650"/>
              <a:ext cx="1928439" cy="2165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Guarda la configuración de nuestro sistema. </a:t>
              </a: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7993576" y="1917589"/>
              <a:ext cx="434267" cy="508011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 txBox="1"/>
            <p:nvPr/>
          </p:nvSpPr>
          <p:spPr>
            <a:xfrm>
              <a:off x="7993576" y="2019191"/>
              <a:ext cx="303987" cy="304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8608107" y="1028653"/>
              <a:ext cx="2048433" cy="228588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 txBox="1"/>
            <p:nvPr/>
          </p:nvSpPr>
          <p:spPr>
            <a:xfrm>
              <a:off x="8668104" y="1088650"/>
              <a:ext cx="1928439" cy="2165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Realiza POST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Gestores de arranque</a:t>
            </a:r>
            <a:endParaRPr/>
          </a:p>
        </p:txBody>
      </p:sp>
      <p:grpSp>
        <p:nvGrpSpPr>
          <p:cNvPr id="226" name="Google Shape;226;p10"/>
          <p:cNvGrpSpPr/>
          <p:nvPr/>
        </p:nvGrpSpPr>
        <p:grpSpPr>
          <a:xfrm>
            <a:off x="1096963" y="1846263"/>
            <a:ext cx="10058399" cy="4022724"/>
            <a:chOff x="0" y="0"/>
            <a:chExt cx="10058399" cy="4022724"/>
          </a:xfrm>
        </p:grpSpPr>
        <p:sp>
          <p:nvSpPr>
            <p:cNvPr id="227" name="Google Shape;227;p10"/>
            <p:cNvSpPr/>
            <p:nvPr/>
          </p:nvSpPr>
          <p:spPr>
            <a:xfrm>
              <a:off x="0" y="0"/>
              <a:ext cx="4022724" cy="4022724"/>
            </a:xfrm>
            <a:prstGeom prst="pie">
              <a:avLst>
                <a:gd name="adj1" fmla="val 5400000"/>
                <a:gd name="adj2" fmla="val 1620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2011362" y="0"/>
              <a:ext cx="8047037" cy="402272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 txBox="1"/>
            <p:nvPr/>
          </p:nvSpPr>
          <p:spPr>
            <a:xfrm>
              <a:off x="2011362" y="0"/>
              <a:ext cx="8047037" cy="1910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es-E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primera pieza de software iniciada por la BIOS o UEFI. Es responsable de cargar el kérnel con sus parámetros, y la imagen RAM inicial antes de iniciar el proceso de </a:t>
              </a:r>
              <a:r>
                <a:rPr lang="es-E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arranque.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1055965" y="1910794"/>
              <a:ext cx="1910794" cy="1910794"/>
            </a:xfrm>
            <a:prstGeom prst="pie">
              <a:avLst>
                <a:gd name="adj1" fmla="val 5400000"/>
                <a:gd name="adj2" fmla="val 1620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2011362" y="1910794"/>
              <a:ext cx="8047037" cy="191079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 txBox="1"/>
            <p:nvPr/>
          </p:nvSpPr>
          <p:spPr>
            <a:xfrm>
              <a:off x="2011362" y="1910794"/>
              <a:ext cx="8047037" cy="1910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es-E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Los gestores de arranque se instalan en una parte del </a:t>
              </a:r>
              <a:r>
                <a:rPr lang="es-E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disco duro</a:t>
              </a:r>
              <a:r>
                <a:rPr lang="es-E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llamada </a:t>
              </a:r>
              <a:r>
                <a:rPr lang="es-E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MBR</a:t>
              </a:r>
              <a:r>
                <a:rPr lang="es-E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Esta zona, es conocida como ”</a:t>
              </a:r>
              <a:r>
                <a:rPr lang="es-E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master boot record</a:t>
              </a:r>
              <a:r>
                <a:rPr lang="es-E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” o sector cero del disco. Está exclusivamente diseñada para almacenar la información del arranque de tu pc.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Post -&gt; Tareas que realiza: </a:t>
            </a: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1441895" y="2129721"/>
            <a:ext cx="9368534" cy="3723667"/>
            <a:chOff x="344932" y="31206"/>
            <a:chExt cx="9368534" cy="3723667"/>
          </a:xfrm>
        </p:grpSpPr>
        <p:sp>
          <p:nvSpPr>
            <p:cNvPr id="239" name="Google Shape;239;p11"/>
            <p:cNvSpPr/>
            <p:nvPr/>
          </p:nvSpPr>
          <p:spPr>
            <a:xfrm>
              <a:off x="344932" y="31206"/>
              <a:ext cx="812133" cy="812133"/>
            </a:xfrm>
            <a:prstGeom prst="ellipse">
              <a:avLst/>
            </a:prstGeom>
            <a:solidFill>
              <a:srgbClr val="238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515480" y="201754"/>
              <a:ext cx="471037" cy="47103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1331094" y="31206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 txBox="1"/>
            <p:nvPr/>
          </p:nvSpPr>
          <p:spPr>
            <a:xfrm>
              <a:off x="1331094" y="31206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Verifica la integridad del código de la BIOS </a:t>
              </a: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3578962" y="31206"/>
              <a:ext cx="812133" cy="812133"/>
            </a:xfrm>
            <a:prstGeom prst="ellipse">
              <a:avLst/>
            </a:prstGeom>
            <a:solidFill>
              <a:srgbClr val="26C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3749510" y="201754"/>
              <a:ext cx="471037" cy="47103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4565123" y="31206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4565123" y="31206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Determina porquése ejecuta el POST (arranque en frío, Softreset, error, standby, hibernación, etc.)</a:t>
              </a: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812992" y="31206"/>
              <a:ext cx="812133" cy="81213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983540" y="201754"/>
              <a:ext cx="471037" cy="47103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7799153" y="31206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 txBox="1"/>
            <p:nvPr/>
          </p:nvSpPr>
          <p:spPr>
            <a:xfrm>
              <a:off x="7799153" y="31206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Busca, dimensiona y verifica la memoria del sistema (RAM y ROM)</a:t>
              </a: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344932" y="1486973"/>
              <a:ext cx="812133" cy="812133"/>
            </a:xfrm>
            <a:prstGeom prst="ellipse">
              <a:avLst/>
            </a:prstGeom>
            <a:solidFill>
              <a:srgbClr val="3B88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515480" y="1657521"/>
              <a:ext cx="471037" cy="47103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1331094" y="1486973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 txBox="1"/>
            <p:nvPr/>
          </p:nvSpPr>
          <p:spPr>
            <a:xfrm>
              <a:off x="1331094" y="1486973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Busca, inicializa y cataloga los buses y dispositivos del sistema</a:t>
              </a: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3578962" y="1486973"/>
              <a:ext cx="812133" cy="812133"/>
            </a:xfrm>
            <a:prstGeom prst="ellipse">
              <a:avLst/>
            </a:prstGeom>
            <a:solidFill>
              <a:srgbClr val="61A3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3749510" y="1657521"/>
              <a:ext cx="471037" cy="47103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4565123" y="1486973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1"/>
            <p:cNvSpPr txBox="1"/>
            <p:nvPr/>
          </p:nvSpPr>
          <p:spPr>
            <a:xfrm>
              <a:off x="4565123" y="1486973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(Opcional) Pasa el control a otras BIOS especializadas de dispositivos (Red, RAID, etc.) </a:t>
              </a: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6812992" y="1486973"/>
              <a:ext cx="812133" cy="812133"/>
            </a:xfrm>
            <a:prstGeom prst="ellipse">
              <a:avLst/>
            </a:prstGeom>
            <a:solidFill>
              <a:srgbClr val="238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6983540" y="1657521"/>
              <a:ext cx="471037" cy="47103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7799153" y="1486973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 txBox="1"/>
            <p:nvPr/>
          </p:nvSpPr>
          <p:spPr>
            <a:xfrm>
              <a:off x="7799153" y="1486973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Proporciona la interfaz de usuario para configurar parámetros del sistema (Velocidad de CPU, orden de arranque, “tunning”del sistema, etc.)</a:t>
              </a: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344932" y="2942740"/>
              <a:ext cx="812133" cy="812133"/>
            </a:xfrm>
            <a:prstGeom prst="ellipse">
              <a:avLst/>
            </a:prstGeom>
            <a:solidFill>
              <a:srgbClr val="26C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515480" y="3113288"/>
              <a:ext cx="471037" cy="47103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1331094" y="2942740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 txBox="1"/>
            <p:nvPr/>
          </p:nvSpPr>
          <p:spPr>
            <a:xfrm>
              <a:off x="1331094" y="2942740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Identifica, organiza y selecciona los dispositivos de arranque disponibles</a:t>
              </a: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3578962" y="2942740"/>
              <a:ext cx="812133" cy="81213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3749510" y="3113288"/>
              <a:ext cx="471037" cy="47103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4565123" y="2942740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 txBox="1"/>
            <p:nvPr/>
          </p:nvSpPr>
          <p:spPr>
            <a:xfrm>
              <a:off x="4565123" y="2942740"/>
              <a:ext cx="1914313" cy="812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Comienza el proceso de arranque del sistema, llamando al bootloader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Fase 2: BootLoader</a:t>
            </a:r>
            <a:br>
              <a:rPr lang="es-ES"/>
            </a:br>
            <a:endParaRPr/>
          </a:p>
        </p:txBody>
      </p:sp>
      <p:grpSp>
        <p:nvGrpSpPr>
          <p:cNvPr id="276" name="Google Shape;276;p12"/>
          <p:cNvGrpSpPr/>
          <p:nvPr/>
        </p:nvGrpSpPr>
        <p:grpSpPr>
          <a:xfrm>
            <a:off x="1099387" y="2720346"/>
            <a:ext cx="10053550" cy="2274558"/>
            <a:chOff x="2424" y="874083"/>
            <a:chExt cx="10053550" cy="2274558"/>
          </a:xfrm>
        </p:grpSpPr>
        <p:sp>
          <p:nvSpPr>
            <p:cNvPr id="277" name="Google Shape;277;p12"/>
            <p:cNvSpPr/>
            <p:nvPr/>
          </p:nvSpPr>
          <p:spPr>
            <a:xfrm>
              <a:off x="2424" y="874083"/>
              <a:ext cx="4549117" cy="2274558"/>
            </a:xfrm>
            <a:prstGeom prst="rect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2"/>
            <p:cNvSpPr txBox="1"/>
            <p:nvPr/>
          </p:nvSpPr>
          <p:spPr>
            <a:xfrm>
              <a:off x="2424" y="874083"/>
              <a:ext cx="4549117" cy="2274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00" tIns="20300" rIns="20300" bIns="20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lang="es-E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Cargar parte del nucleo(kernel) del sistema operativo en memoria y ejecutarlo.</a:t>
              </a:r>
              <a:endParaRPr/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5506857" y="874083"/>
              <a:ext cx="4549117" cy="2274558"/>
            </a:xfrm>
            <a:prstGeom prst="rect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2"/>
            <p:cNvSpPr txBox="1"/>
            <p:nvPr/>
          </p:nvSpPr>
          <p:spPr>
            <a:xfrm>
              <a:off x="5506857" y="874083"/>
              <a:ext cx="4549117" cy="2274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00" tIns="20300" rIns="20300" bIns="20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lang="es-E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partir de cargarse, el Bootloader toma el control y se encarga de cargar el resto del sistema operativo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Gestores de arranque ejemplos</a:t>
            </a:r>
            <a:endParaRPr/>
          </a:p>
        </p:txBody>
      </p:sp>
      <p:pic>
        <p:nvPicPr>
          <p:cNvPr id="286" name="Google Shape;286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7334" y="2389382"/>
            <a:ext cx="4146655" cy="261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2278" y="2088445"/>
            <a:ext cx="428625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Actividad</a:t>
            </a:r>
            <a:endParaRPr/>
          </a:p>
        </p:txBody>
      </p:sp>
      <p:grpSp>
        <p:nvGrpSpPr>
          <p:cNvPr id="293" name="Google Shape;293;p14"/>
          <p:cNvGrpSpPr/>
          <p:nvPr/>
        </p:nvGrpSpPr>
        <p:grpSpPr>
          <a:xfrm>
            <a:off x="1483300" y="2160589"/>
            <a:ext cx="9134292" cy="3880773"/>
            <a:chOff x="805967" y="0"/>
            <a:chExt cx="9134292" cy="3880773"/>
          </a:xfrm>
        </p:grpSpPr>
        <p:sp>
          <p:nvSpPr>
            <p:cNvPr id="294" name="Google Shape;294;p14"/>
            <p:cNvSpPr/>
            <p:nvPr/>
          </p:nvSpPr>
          <p:spPr>
            <a:xfrm>
              <a:off x="805967" y="0"/>
              <a:ext cx="9134292" cy="388077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BE2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1292905" y="1164231"/>
              <a:ext cx="8160416" cy="155230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/>
            <p:cNvSpPr txBox="1"/>
            <p:nvPr/>
          </p:nvSpPr>
          <p:spPr>
            <a:xfrm>
              <a:off x="1368682" y="1240008"/>
              <a:ext cx="8008862" cy="1400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8575" tIns="148575" rIns="148575" bIns="14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Calibri"/>
                <a:buNone/>
              </a:pPr>
              <a:r>
                <a:rPr lang="es-ES" sz="3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Investigue  gestor de arranque y describa sus características (lilo, grub)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 txBox="1"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ES" sz="3600">
                <a:solidFill>
                  <a:srgbClr val="FFFFFF"/>
                </a:solidFill>
              </a:rPr>
              <a:t>Bootloaders ligeros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" name="Google Shape;305;p15"/>
          <p:cNvGrpSpPr/>
          <p:nvPr/>
        </p:nvGrpSpPr>
        <p:grpSpPr>
          <a:xfrm>
            <a:off x="4741863" y="1373118"/>
            <a:ext cx="6797675" cy="4183201"/>
            <a:chOff x="0" y="733355"/>
            <a:chExt cx="6797675" cy="4183201"/>
          </a:xfrm>
        </p:grpSpPr>
        <p:sp>
          <p:nvSpPr>
            <p:cNvPr id="306" name="Google Shape;306;p15"/>
            <p:cNvSpPr/>
            <p:nvPr/>
          </p:nvSpPr>
          <p:spPr>
            <a:xfrm>
              <a:off x="0" y="733355"/>
              <a:ext cx="6797675" cy="959400"/>
            </a:xfrm>
            <a:prstGeom prst="roundRect">
              <a:avLst>
                <a:gd name="adj" fmla="val 16667"/>
              </a:avLst>
            </a:prstGeom>
            <a:solidFill>
              <a:srgbClr val="3B8850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5"/>
            <p:cNvSpPr txBox="1"/>
            <p:nvPr/>
          </p:nvSpPr>
          <p:spPr>
            <a:xfrm>
              <a:off x="46834" y="780189"/>
              <a:ext cx="6704007" cy="865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E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Disquetes: SYSLINUX</a:t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0" y="1807955"/>
              <a:ext cx="6797675" cy="959400"/>
            </a:xfrm>
            <a:prstGeom prst="roundRect">
              <a:avLst>
                <a:gd name="adj" fmla="val 16667"/>
              </a:avLst>
            </a:prstGeom>
            <a:solidFill>
              <a:srgbClr val="46926C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5"/>
            <p:cNvSpPr txBox="1"/>
            <p:nvPr/>
          </p:nvSpPr>
          <p:spPr>
            <a:xfrm>
              <a:off x="46834" y="1854789"/>
              <a:ext cx="6704007" cy="865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E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Arranque de red: PXELINUX</a:t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0" y="2882556"/>
              <a:ext cx="6797675" cy="959400"/>
            </a:xfrm>
            <a:prstGeom prst="roundRect">
              <a:avLst>
                <a:gd name="adj" fmla="val 16667"/>
              </a:avLst>
            </a:prstGeom>
            <a:solidFill>
              <a:srgbClr val="529B8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5"/>
            <p:cNvSpPr txBox="1"/>
            <p:nvPr/>
          </p:nvSpPr>
          <p:spPr>
            <a:xfrm>
              <a:off x="46834" y="2929390"/>
              <a:ext cx="6704007" cy="865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E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Arranque de cd-rom: ISOLINUX</a:t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0" y="3957156"/>
              <a:ext cx="6797675" cy="959400"/>
            </a:xfrm>
            <a:prstGeom prst="roundRect">
              <a:avLst>
                <a:gd name="adj" fmla="val 16667"/>
              </a:avLst>
            </a:prstGeom>
            <a:solidFill>
              <a:srgbClr val="60A29E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5"/>
            <p:cNvSpPr txBox="1"/>
            <p:nvPr/>
          </p:nvSpPr>
          <p:spPr>
            <a:xfrm>
              <a:off x="46834" y="4003990"/>
              <a:ext cx="6704007" cy="865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ES" sz="4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Arranque de sistemas: viaPXE 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 txBox="1">
            <a:spLocks noGrp="1"/>
          </p:cNvSpPr>
          <p:nvPr>
            <p:ph type="title"/>
          </p:nvPr>
        </p:nvSpPr>
        <p:spPr>
          <a:xfrm>
            <a:off x="664272" y="348343"/>
            <a:ext cx="8596668" cy="82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Fase 3: Kernel</a:t>
            </a: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1597738" y="1176814"/>
            <a:ext cx="8966042" cy="5144450"/>
            <a:chOff x="1310355" y="1157"/>
            <a:chExt cx="8966042" cy="5144450"/>
          </a:xfrm>
        </p:grpSpPr>
        <p:sp>
          <p:nvSpPr>
            <p:cNvPr id="320" name="Google Shape;320;p16"/>
            <p:cNvSpPr/>
            <p:nvPr/>
          </p:nvSpPr>
          <p:spPr>
            <a:xfrm rot="5400000">
              <a:off x="889262" y="1168589"/>
              <a:ext cx="1829692" cy="220476"/>
            </a:xfrm>
            <a:prstGeom prst="rect">
              <a:avLst/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1310355" y="1157"/>
              <a:ext cx="2449738" cy="146984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6"/>
            <p:cNvSpPr txBox="1"/>
            <p:nvPr/>
          </p:nvSpPr>
          <p:spPr>
            <a:xfrm>
              <a:off x="1353405" y="44207"/>
              <a:ext cx="2363638" cy="13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ejecución del kernel, descomprimiéndose a sí mismo. </a:t>
              </a:r>
              <a:endParaRPr/>
            </a:p>
          </p:txBody>
        </p:sp>
        <p:sp>
          <p:nvSpPr>
            <p:cNvPr id="323" name="Google Shape;323;p16"/>
            <p:cNvSpPr/>
            <p:nvPr/>
          </p:nvSpPr>
          <p:spPr>
            <a:xfrm rot="5400000">
              <a:off x="889262" y="3005892"/>
              <a:ext cx="1829692" cy="220476"/>
            </a:xfrm>
            <a:prstGeom prst="rect">
              <a:avLst/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1310355" y="1838461"/>
              <a:ext cx="2449738" cy="146984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6"/>
            <p:cNvSpPr txBox="1"/>
            <p:nvPr/>
          </p:nvSpPr>
          <p:spPr>
            <a:xfrm>
              <a:off x="1353405" y="1881511"/>
              <a:ext cx="2363638" cy="13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Comienza la inicialización del kernel y el chequeo y puesta en marcha de algunos de los dispositivos para los que se ha dado soporte. </a:t>
              </a: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1807914" y="3924544"/>
              <a:ext cx="3250540" cy="220476"/>
            </a:xfrm>
            <a:prstGeom prst="rect">
              <a:avLst/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1310355" y="3675765"/>
              <a:ext cx="2449738" cy="146984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6"/>
            <p:cNvSpPr txBox="1"/>
            <p:nvPr/>
          </p:nvSpPr>
          <p:spPr>
            <a:xfrm>
              <a:off x="1353405" y="3718815"/>
              <a:ext cx="2363638" cy="13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Detecta la CPU y su velocidad Inicializa el Display para mostrar información por pantalla </a:t>
              </a:r>
              <a:endParaRPr/>
            </a:p>
          </p:txBody>
        </p:sp>
        <p:sp>
          <p:nvSpPr>
            <p:cNvPr id="329" name="Google Shape;329;p16"/>
            <p:cNvSpPr/>
            <p:nvPr/>
          </p:nvSpPr>
          <p:spPr>
            <a:xfrm rot="-5400000">
              <a:off x="4147414" y="3005892"/>
              <a:ext cx="1829692" cy="220476"/>
            </a:xfrm>
            <a:prstGeom prst="rect">
              <a:avLst/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4568507" y="3675765"/>
              <a:ext cx="2449738" cy="146984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6"/>
            <p:cNvSpPr txBox="1"/>
            <p:nvPr/>
          </p:nvSpPr>
          <p:spPr>
            <a:xfrm>
              <a:off x="4611557" y="3718815"/>
              <a:ext cx="2363638" cy="13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Comprueba el bus PCI e identifica y crea una tabla con los periféricos conectados </a:t>
              </a: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 rot="-5400000">
              <a:off x="4147414" y="1168589"/>
              <a:ext cx="1829692" cy="220476"/>
            </a:xfrm>
            <a:prstGeom prst="rect">
              <a:avLst/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4568507" y="1838461"/>
              <a:ext cx="2449738" cy="146984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 txBox="1"/>
            <p:nvPr/>
          </p:nvSpPr>
          <p:spPr>
            <a:xfrm>
              <a:off x="4611557" y="1881511"/>
              <a:ext cx="2363638" cy="13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Inicializa el sistema de gestión de memoria virtual, incluyendo el swapper </a:t>
              </a: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5066066" y="249937"/>
              <a:ext cx="3250540" cy="220476"/>
            </a:xfrm>
            <a:prstGeom prst="rect">
              <a:avLst/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4568507" y="1157"/>
              <a:ext cx="2449738" cy="146984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 txBox="1"/>
            <p:nvPr/>
          </p:nvSpPr>
          <p:spPr>
            <a:xfrm>
              <a:off x="4611557" y="44207"/>
              <a:ext cx="2363638" cy="13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Inicializa todos los periféricos (periféricos necesarios para esta fase)</a:t>
              </a: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5400000">
              <a:off x="7405566" y="1168589"/>
              <a:ext cx="1829692" cy="220476"/>
            </a:xfrm>
            <a:prstGeom prst="rect">
              <a:avLst/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7826659" y="1157"/>
              <a:ext cx="2449738" cy="146984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 txBox="1"/>
            <p:nvPr/>
          </p:nvSpPr>
          <p:spPr>
            <a:xfrm>
              <a:off x="7869709" y="44207"/>
              <a:ext cx="2363638" cy="13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Monta el sistema de ficheros root(“/”)</a:t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7826659" y="1838461"/>
              <a:ext cx="2449738" cy="146984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 txBox="1"/>
            <p:nvPr/>
          </p:nvSpPr>
          <p:spPr>
            <a:xfrm>
              <a:off x="7869709" y="1881511"/>
              <a:ext cx="2363638" cy="13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s-E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partir de aquíl llama al proceso init que se ejecuta con uid0 y será el padre de todos los demás procesos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Fase 4: Init  -&gt;   ¿Qué es el Init ?</a:t>
            </a:r>
            <a:endParaRPr/>
          </a:p>
        </p:txBody>
      </p:sp>
      <p:grpSp>
        <p:nvGrpSpPr>
          <p:cNvPr id="348" name="Google Shape;348;p17"/>
          <p:cNvGrpSpPr/>
          <p:nvPr/>
        </p:nvGrpSpPr>
        <p:grpSpPr>
          <a:xfrm>
            <a:off x="1231788" y="2373828"/>
            <a:ext cx="9788748" cy="3235452"/>
            <a:chOff x="134825" y="275313"/>
            <a:chExt cx="9788748" cy="3235452"/>
          </a:xfrm>
        </p:grpSpPr>
        <p:sp>
          <p:nvSpPr>
            <p:cNvPr id="349" name="Google Shape;349;p17"/>
            <p:cNvSpPr/>
            <p:nvPr/>
          </p:nvSpPr>
          <p:spPr>
            <a:xfrm>
              <a:off x="134825" y="275313"/>
              <a:ext cx="1295909" cy="1295909"/>
            </a:xfrm>
            <a:prstGeom prst="ellipse">
              <a:avLst/>
            </a:prstGeom>
            <a:solidFill>
              <a:srgbClr val="238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406966" y="547454"/>
              <a:ext cx="751627" cy="7516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708430" y="275313"/>
              <a:ext cx="3054644" cy="129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7"/>
            <p:cNvSpPr txBox="1"/>
            <p:nvPr/>
          </p:nvSpPr>
          <p:spPr>
            <a:xfrm>
              <a:off x="1708430" y="275313"/>
              <a:ext cx="3054644" cy="129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estos momentos el kernel está cargado, tenemos gestión de memoria, una parte del hardware está inicializado y tenemos un sistema de ficheros root. </a:t>
              </a: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5295324" y="275313"/>
              <a:ext cx="1295909" cy="1295909"/>
            </a:xfrm>
            <a:prstGeom prst="ellipse">
              <a:avLst/>
            </a:prstGeom>
            <a:solidFill>
              <a:srgbClr val="26C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5567465" y="547454"/>
              <a:ext cx="751627" cy="75162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6868929" y="275313"/>
              <a:ext cx="3054644" cy="129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7"/>
            <p:cNvSpPr txBox="1"/>
            <p:nvPr/>
          </p:nvSpPr>
          <p:spPr>
            <a:xfrm>
              <a:off x="6868929" y="275313"/>
              <a:ext cx="3054644" cy="129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A partir de ahora el resto de operaciones se van a realizar directa o indirectamente por el proceso init. </a:t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134825" y="2214856"/>
              <a:ext cx="1295909" cy="129590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406966" y="2486997"/>
              <a:ext cx="751627" cy="75162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1708430" y="2214856"/>
              <a:ext cx="3054644" cy="129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7"/>
            <p:cNvSpPr txBox="1"/>
            <p:nvPr/>
          </p:nvSpPr>
          <p:spPr>
            <a:xfrm>
              <a:off x="1708430" y="2214856"/>
              <a:ext cx="3054644" cy="129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El proceso init lee del fichero /etc/init tabla configuración a utilizar.</a:t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5295324" y="2214856"/>
              <a:ext cx="1295909" cy="1295909"/>
            </a:xfrm>
            <a:prstGeom prst="ellipse">
              <a:avLst/>
            </a:prstGeom>
            <a:solidFill>
              <a:srgbClr val="3B88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67465" y="2486997"/>
              <a:ext cx="751627" cy="75162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6868929" y="2214856"/>
              <a:ext cx="3054644" cy="129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7"/>
            <p:cNvSpPr txBox="1"/>
            <p:nvPr/>
          </p:nvSpPr>
          <p:spPr>
            <a:xfrm>
              <a:off x="6868929" y="2214856"/>
              <a:ext cx="3054644" cy="129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Ejecuta el comando /etc/rc.sysinit el cual realiza una inicialización básica del sistema En función del run levelejecuta los comandos establecidos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Archivo /etc / inittab</a:t>
            </a:r>
            <a:endParaRPr/>
          </a:p>
        </p:txBody>
      </p:sp>
      <p:grpSp>
        <p:nvGrpSpPr>
          <p:cNvPr id="370" name="Google Shape;370;p18"/>
          <p:cNvGrpSpPr/>
          <p:nvPr/>
        </p:nvGrpSpPr>
        <p:grpSpPr>
          <a:xfrm>
            <a:off x="254218" y="3087723"/>
            <a:ext cx="10812092" cy="1836076"/>
            <a:chOff x="9519" y="1720813"/>
            <a:chExt cx="10812092" cy="1836076"/>
          </a:xfrm>
        </p:grpSpPr>
        <p:sp>
          <p:nvSpPr>
            <p:cNvPr id="371" name="Google Shape;371;p18"/>
            <p:cNvSpPr/>
            <p:nvPr/>
          </p:nvSpPr>
          <p:spPr>
            <a:xfrm>
              <a:off x="9519" y="1720813"/>
              <a:ext cx="2845287" cy="178719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 txBox="1"/>
            <p:nvPr/>
          </p:nvSpPr>
          <p:spPr>
            <a:xfrm>
              <a:off x="61864" y="1773158"/>
              <a:ext cx="2740597" cy="1682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proceso </a:t>
              </a:r>
              <a:r>
                <a:rPr lang="es-E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INIT</a:t>
              </a: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controla en todo momento el modo de funcionamiento del sistema global a partir del archivo de configuración </a:t>
              </a:r>
              <a:r>
                <a:rPr lang="es-E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/etc/ inittab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 rot="40211">
              <a:off x="3188139" y="2286269"/>
              <a:ext cx="706764" cy="705631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 txBox="1"/>
            <p:nvPr/>
          </p:nvSpPr>
          <p:spPr>
            <a:xfrm rot="40211">
              <a:off x="3188146" y="2426157"/>
              <a:ext cx="495075" cy="423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4188233" y="1769693"/>
              <a:ext cx="2845287" cy="178719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 txBox="1"/>
            <p:nvPr/>
          </p:nvSpPr>
          <p:spPr>
            <a:xfrm>
              <a:off x="4240578" y="1822038"/>
              <a:ext cx="2740597" cy="1682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 b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Usemos</a:t>
              </a:r>
              <a:r>
                <a:rPr lang="es-E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ES" sz="1800" b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cat </a:t>
              </a:r>
              <a:r>
                <a:rPr lang="es-E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/etc/inittab </a:t>
              </a: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 veamos que obtenemos</a:t>
              </a: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 rot="-44357">
              <a:off x="7269201" y="2285853"/>
              <a:ext cx="499727" cy="705631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 txBox="1"/>
            <p:nvPr/>
          </p:nvSpPr>
          <p:spPr>
            <a:xfrm rot="-44357">
              <a:off x="7269207" y="2427946"/>
              <a:ext cx="349809" cy="423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7976324" y="1720813"/>
              <a:ext cx="2845287" cy="178719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 txBox="1"/>
            <p:nvPr/>
          </p:nvSpPr>
          <p:spPr>
            <a:xfrm>
              <a:off x="8028669" y="1773158"/>
              <a:ext cx="2740597" cy="1682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Observemos que tiene 7 niveles de ejecución.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8"/>
          <p:cNvSpPr txBox="1"/>
          <p:nvPr/>
        </p:nvSpPr>
        <p:spPr>
          <a:xfrm>
            <a:off x="837127" y="5241702"/>
            <a:ext cx="84368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systemd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y </a:t>
            </a:r>
            <a:r>
              <a:rPr lang="es-E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systemd-sysvcompat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son utilizados de forma predeterminada en los nuevos soportes de instalación desde el </a:t>
            </a:r>
            <a:r>
              <a:rPr lang="es-E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2012-10-13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"/>
          <p:cNvSpPr txBox="1">
            <a:spLocks noGrp="1"/>
          </p:cNvSpPr>
          <p:nvPr>
            <p:ph type="title"/>
          </p:nvPr>
        </p:nvSpPr>
        <p:spPr>
          <a:xfrm>
            <a:off x="677333" y="261257"/>
            <a:ext cx="10256277" cy="100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Cat /etc / inittab</a:t>
            </a:r>
            <a:endParaRPr/>
          </a:p>
        </p:txBody>
      </p:sp>
      <p:pic>
        <p:nvPicPr>
          <p:cNvPr id="387" name="Google Shape;38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59" y="1270000"/>
            <a:ext cx="7839075" cy="52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2.2 Niveles de operación del sistema. </a:t>
            </a:r>
            <a:endParaRPr/>
          </a:p>
        </p:txBody>
      </p:sp>
      <p:grpSp>
        <p:nvGrpSpPr>
          <p:cNvPr id="393" name="Google Shape;393;p20"/>
          <p:cNvGrpSpPr/>
          <p:nvPr/>
        </p:nvGrpSpPr>
        <p:grpSpPr>
          <a:xfrm>
            <a:off x="1098927" y="2600816"/>
            <a:ext cx="10054470" cy="2513617"/>
            <a:chOff x="1964" y="754553"/>
            <a:chExt cx="10054470" cy="2513617"/>
          </a:xfrm>
        </p:grpSpPr>
        <p:sp>
          <p:nvSpPr>
            <p:cNvPr id="394" name="Google Shape;394;p20"/>
            <p:cNvSpPr/>
            <p:nvPr/>
          </p:nvSpPr>
          <p:spPr>
            <a:xfrm>
              <a:off x="1964" y="754553"/>
              <a:ext cx="4189362" cy="251361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0"/>
            <p:cNvSpPr txBox="1"/>
            <p:nvPr/>
          </p:nvSpPr>
          <p:spPr>
            <a:xfrm>
              <a:off x="75585" y="828174"/>
              <a:ext cx="4042120" cy="2366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lang="es-E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Niveles de operación en el que se ha de ejecutar la tarea, responde a la pregunta ¿cuándo?.</a:t>
              </a:r>
              <a:endParaRPr/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4610263" y="1491881"/>
              <a:ext cx="888144" cy="1038961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DDBEF"/>
                </a:gs>
                <a:gs pos="45000">
                  <a:srgbClr val="CBE3F6"/>
                </a:gs>
                <a:gs pos="100000">
                  <a:srgbClr val="CDE9F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0"/>
            <p:cNvSpPr txBox="1"/>
            <p:nvPr/>
          </p:nvSpPr>
          <p:spPr>
            <a:xfrm>
              <a:off x="4610263" y="1699673"/>
              <a:ext cx="621701" cy="623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5867072" y="754553"/>
              <a:ext cx="4189362" cy="251361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0"/>
            <p:cNvSpPr txBox="1"/>
            <p:nvPr/>
          </p:nvSpPr>
          <p:spPr>
            <a:xfrm>
              <a:off x="5940693" y="828174"/>
              <a:ext cx="4042120" cy="2366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lang="es-E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Los niveles de operación son 7 y varían dependiendo de los sistemas.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Cada línea del fichero /etc/inittab esta formado por 4 campos</a:t>
            </a:r>
            <a:endParaRPr/>
          </a:p>
        </p:txBody>
      </p:sp>
      <p:grpSp>
        <p:nvGrpSpPr>
          <p:cNvPr id="405" name="Google Shape;405;p21"/>
          <p:cNvGrpSpPr/>
          <p:nvPr/>
        </p:nvGrpSpPr>
        <p:grpSpPr>
          <a:xfrm>
            <a:off x="1101874" y="1846263"/>
            <a:ext cx="10048577" cy="4022725"/>
            <a:chOff x="4911" y="0"/>
            <a:chExt cx="10048577" cy="4022725"/>
          </a:xfrm>
        </p:grpSpPr>
        <p:sp>
          <p:nvSpPr>
            <p:cNvPr id="406" name="Google Shape;406;p21"/>
            <p:cNvSpPr/>
            <p:nvPr/>
          </p:nvSpPr>
          <p:spPr>
            <a:xfrm>
              <a:off x="4911" y="0"/>
              <a:ext cx="10048577" cy="4022725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1"/>
            <p:cNvSpPr txBox="1"/>
            <p:nvPr/>
          </p:nvSpPr>
          <p:spPr>
            <a:xfrm>
              <a:off x="122733" y="117822"/>
              <a:ext cx="9812933" cy="3787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rPr lang="es-ES" sz="4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Código: runlevel: acción: proceso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Código</a:t>
            </a:r>
            <a:endParaRPr/>
          </a:p>
        </p:txBody>
      </p:sp>
      <p:grpSp>
        <p:nvGrpSpPr>
          <p:cNvPr id="413" name="Google Shape;413;p22"/>
          <p:cNvGrpSpPr/>
          <p:nvPr/>
        </p:nvGrpSpPr>
        <p:grpSpPr>
          <a:xfrm>
            <a:off x="1464815" y="2077375"/>
            <a:ext cx="7143360" cy="3049587"/>
            <a:chOff x="0" y="0"/>
            <a:chExt cx="7143360" cy="3049587"/>
          </a:xfrm>
        </p:grpSpPr>
        <p:sp>
          <p:nvSpPr>
            <p:cNvPr id="414" name="Google Shape;414;p22"/>
            <p:cNvSpPr/>
            <p:nvPr/>
          </p:nvSpPr>
          <p:spPr>
            <a:xfrm>
              <a:off x="0" y="0"/>
              <a:ext cx="3049587" cy="3049587"/>
            </a:xfrm>
            <a:prstGeom prst="pie">
              <a:avLst>
                <a:gd name="adj1" fmla="val 5400000"/>
                <a:gd name="adj2" fmla="val 16200000"/>
              </a:avLst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1524793" y="0"/>
              <a:ext cx="5618567" cy="3049587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 txBox="1"/>
            <p:nvPr/>
          </p:nvSpPr>
          <p:spPr>
            <a:xfrm>
              <a:off x="1524793" y="0"/>
              <a:ext cx="5618567" cy="3049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1925" tIns="201925" rIns="201925" bIns="201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300"/>
                <a:buFont typeface="Calibri"/>
                <a:buNone/>
              </a:pPr>
              <a:r>
                <a:rPr lang="es-ES" sz="5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Cadena de hasta 4 caracteres que identifica a la tarea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1" name="Google Shape;421;p2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>
                <a:alpha val="9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2" name="Google Shape;422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Niveles de ejecución del inittab (runlevel)</a:t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23"/>
          <p:cNvGrpSpPr/>
          <p:nvPr/>
        </p:nvGrpSpPr>
        <p:grpSpPr>
          <a:xfrm>
            <a:off x="1097280" y="1849270"/>
            <a:ext cx="10058400" cy="4016286"/>
            <a:chOff x="0" y="3536"/>
            <a:chExt cx="10058400" cy="4016286"/>
          </a:xfrm>
        </p:grpSpPr>
        <p:sp>
          <p:nvSpPr>
            <p:cNvPr id="426" name="Google Shape;426;p23"/>
            <p:cNvSpPr/>
            <p:nvPr/>
          </p:nvSpPr>
          <p:spPr>
            <a:xfrm>
              <a:off x="4023360" y="3536"/>
              <a:ext cx="6035040" cy="528458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CBD8EA">
                <a:alpha val="90196"/>
              </a:srgbClr>
            </a:solidFill>
            <a:ln w="15875" cap="flat" cmpd="sng">
              <a:solidFill>
                <a:srgbClr val="CBD8EA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3"/>
            <p:cNvSpPr txBox="1"/>
            <p:nvPr/>
          </p:nvSpPr>
          <p:spPr>
            <a:xfrm>
              <a:off x="4023360" y="69593"/>
              <a:ext cx="5836868" cy="396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500" tIns="16500" rIns="16500" bIns="165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lang="es-ES" sz="2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Stop del sistema</a:t>
              </a: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0" y="3536"/>
              <a:ext cx="4023360" cy="528458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3"/>
            <p:cNvSpPr txBox="1"/>
            <p:nvPr/>
          </p:nvSpPr>
          <p:spPr>
            <a:xfrm>
              <a:off x="25797" y="29333"/>
              <a:ext cx="3971766" cy="476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49525" rIns="99050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4023360" y="584840"/>
              <a:ext cx="6035040" cy="528458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CAE9EB">
                <a:alpha val="90196"/>
              </a:srgbClr>
            </a:solidFill>
            <a:ln w="15875" cap="flat" cmpd="sng">
              <a:solidFill>
                <a:srgbClr val="CAE9EB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 txBox="1"/>
            <p:nvPr/>
          </p:nvSpPr>
          <p:spPr>
            <a:xfrm>
              <a:off x="4023360" y="650897"/>
              <a:ext cx="5836868" cy="396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500" tIns="16500" rIns="16500" bIns="165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lang="es-ES" sz="2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Mantenimiento y correcciones</a:t>
              </a: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0" y="584840"/>
              <a:ext cx="4023360" cy="528458"/>
            </a:xfrm>
            <a:prstGeom prst="roundRect">
              <a:avLst>
                <a:gd name="adj" fmla="val 16667"/>
              </a:avLst>
            </a:prstGeom>
            <a:solidFill>
              <a:srgbClr val="26C4CB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 txBox="1"/>
            <p:nvPr/>
          </p:nvSpPr>
          <p:spPr>
            <a:xfrm>
              <a:off x="25797" y="610637"/>
              <a:ext cx="3971766" cy="476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49525" rIns="99050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4023360" y="1166145"/>
              <a:ext cx="6035040" cy="528458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CDE5DC">
                <a:alpha val="90196"/>
              </a:srgbClr>
            </a:solidFill>
            <a:ln w="15875" cap="flat" cmpd="sng">
              <a:solidFill>
                <a:srgbClr val="CDE5DC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 txBox="1"/>
            <p:nvPr/>
          </p:nvSpPr>
          <p:spPr>
            <a:xfrm>
              <a:off x="4023360" y="1232202"/>
              <a:ext cx="5836868" cy="396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500" tIns="16500" rIns="16500" bIns="165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lang="es-ES" sz="2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Operación multiusuario</a:t>
              </a: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0" y="1166145"/>
              <a:ext cx="4023360" cy="528458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 txBox="1"/>
            <p:nvPr/>
          </p:nvSpPr>
          <p:spPr>
            <a:xfrm>
              <a:off x="25797" y="1191942"/>
              <a:ext cx="3971766" cy="476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49525" rIns="99050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4023360" y="1747450"/>
              <a:ext cx="6035040" cy="528458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CDD9CF">
                <a:alpha val="90196"/>
              </a:srgbClr>
            </a:solidFill>
            <a:ln w="15875" cap="flat" cmpd="sng">
              <a:solidFill>
                <a:srgbClr val="CDD9CF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3"/>
            <p:cNvSpPr txBox="1"/>
            <p:nvPr/>
          </p:nvSpPr>
          <p:spPr>
            <a:xfrm>
              <a:off x="4023360" y="1813507"/>
              <a:ext cx="5836868" cy="396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500" tIns="16500" rIns="16500" bIns="165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lang="es-ES" sz="2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Nivel normal se inician todos los servicios</a:t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0" y="1747450"/>
              <a:ext cx="4023360" cy="528458"/>
            </a:xfrm>
            <a:prstGeom prst="roundRect">
              <a:avLst>
                <a:gd name="adj" fmla="val 16667"/>
              </a:avLst>
            </a:prstGeom>
            <a:solidFill>
              <a:srgbClr val="3B8850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 txBox="1"/>
            <p:nvPr/>
          </p:nvSpPr>
          <p:spPr>
            <a:xfrm>
              <a:off x="25797" y="1773247"/>
              <a:ext cx="3971766" cy="476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49525" rIns="99050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4023360" y="2328755"/>
              <a:ext cx="6035040" cy="528458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D1E0DF">
                <a:alpha val="90196"/>
              </a:srgbClr>
            </a:solidFill>
            <a:ln w="15875" cap="flat" cmpd="sng">
              <a:solidFill>
                <a:srgbClr val="D1E0DF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 txBox="1"/>
            <p:nvPr/>
          </p:nvSpPr>
          <p:spPr>
            <a:xfrm>
              <a:off x="4023360" y="2394812"/>
              <a:ext cx="5836868" cy="396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500" tIns="16500" rIns="16500" bIns="165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lang="es-ES" sz="2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usado</a:t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0" y="2328755"/>
              <a:ext cx="4023360" cy="528458"/>
            </a:xfrm>
            <a:prstGeom prst="roundRect">
              <a:avLst>
                <a:gd name="adj" fmla="val 16667"/>
              </a:avLst>
            </a:prstGeom>
            <a:solidFill>
              <a:srgbClr val="61A39F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3"/>
            <p:cNvSpPr txBox="1"/>
            <p:nvPr/>
          </p:nvSpPr>
          <p:spPr>
            <a:xfrm>
              <a:off x="25797" y="2354552"/>
              <a:ext cx="3971766" cy="476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49525" rIns="99050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4023360" y="2910060"/>
              <a:ext cx="6035040" cy="528458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CBD8EA">
                <a:alpha val="90196"/>
              </a:srgbClr>
            </a:solidFill>
            <a:ln w="15875" cap="flat" cmpd="sng">
              <a:solidFill>
                <a:srgbClr val="CBD8EA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 txBox="1"/>
            <p:nvPr/>
          </p:nvSpPr>
          <p:spPr>
            <a:xfrm>
              <a:off x="4023360" y="2976117"/>
              <a:ext cx="5836868" cy="396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500" tIns="16500" rIns="16500" bIns="165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lang="es-ES" sz="2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Usado en interfaz grafica</a:t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0" y="2910060"/>
              <a:ext cx="4023360" cy="528458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 txBox="1"/>
            <p:nvPr/>
          </p:nvSpPr>
          <p:spPr>
            <a:xfrm>
              <a:off x="25797" y="2935857"/>
              <a:ext cx="3971766" cy="476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49525" rIns="99050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5	</a:t>
              </a: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4023360" y="3491364"/>
              <a:ext cx="6035040" cy="528458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CAE9EB">
                <a:alpha val="90196"/>
              </a:srgbClr>
            </a:solidFill>
            <a:ln w="15875" cap="flat" cmpd="sng">
              <a:solidFill>
                <a:srgbClr val="CAE9EB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3"/>
            <p:cNvSpPr txBox="1"/>
            <p:nvPr/>
          </p:nvSpPr>
          <p:spPr>
            <a:xfrm>
              <a:off x="4023360" y="3557421"/>
              <a:ext cx="5836868" cy="396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500" tIns="16500" rIns="16500" bIns="165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lang="es-ES" sz="2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Empleado para reiniciar SO</a:t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0" y="3491364"/>
              <a:ext cx="4023360" cy="528458"/>
            </a:xfrm>
            <a:prstGeom prst="roundRect">
              <a:avLst>
                <a:gd name="adj" fmla="val 16667"/>
              </a:avLst>
            </a:prstGeom>
            <a:solidFill>
              <a:srgbClr val="26C4CB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 txBox="1"/>
            <p:nvPr/>
          </p:nvSpPr>
          <p:spPr>
            <a:xfrm>
              <a:off x="25797" y="3517161"/>
              <a:ext cx="3971766" cy="476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49525" rIns="99050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 txBox="1"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ES" sz="3600">
                <a:solidFill>
                  <a:srgbClr val="FFFFFF"/>
                </a:solidFill>
              </a:rPr>
              <a:t>Acción</a:t>
            </a:r>
            <a:endParaRPr/>
          </a:p>
        </p:txBody>
      </p:sp>
      <p:sp>
        <p:nvSpPr>
          <p:cNvPr id="461" name="Google Shape;461;p24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2" name="Google Shape;462;p24"/>
          <p:cNvGrpSpPr/>
          <p:nvPr/>
        </p:nvGrpSpPr>
        <p:grpSpPr>
          <a:xfrm>
            <a:off x="4741863" y="641683"/>
            <a:ext cx="6797674" cy="5646071"/>
            <a:chOff x="0" y="1920"/>
            <a:chExt cx="6797674" cy="5646071"/>
          </a:xfrm>
        </p:grpSpPr>
        <p:sp>
          <p:nvSpPr>
            <p:cNvPr id="463" name="Google Shape;463;p24"/>
            <p:cNvSpPr/>
            <p:nvPr/>
          </p:nvSpPr>
          <p:spPr>
            <a:xfrm>
              <a:off x="0" y="4634152"/>
              <a:ext cx="1699418" cy="1013839"/>
            </a:xfrm>
            <a:prstGeom prst="rect">
              <a:avLst/>
            </a:prstGeom>
            <a:solidFill>
              <a:srgbClr val="2383C6"/>
            </a:solidFill>
            <a:ln w="15875" cap="flat" cmpd="sng">
              <a:solidFill>
                <a:srgbClr val="2383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4"/>
            <p:cNvSpPr txBox="1"/>
            <p:nvPr/>
          </p:nvSpPr>
          <p:spPr>
            <a:xfrm>
              <a:off x="0" y="4634152"/>
              <a:ext cx="1699418" cy="10138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850" tIns="92450" rIns="120850" bIns="92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Wait</a:t>
              </a: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1699418" y="4634152"/>
              <a:ext cx="5098256" cy="1013839"/>
            </a:xfrm>
            <a:prstGeom prst="rect">
              <a:avLst/>
            </a:prstGeom>
            <a:solidFill>
              <a:srgbClr val="CBD8EA">
                <a:alpha val="90196"/>
              </a:srgbClr>
            </a:solidFill>
            <a:ln w="15875" cap="flat" cmpd="sng">
              <a:solidFill>
                <a:srgbClr val="CBD8EA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 txBox="1"/>
            <p:nvPr/>
          </p:nvSpPr>
          <p:spPr>
            <a:xfrm>
              <a:off x="1699418" y="4634152"/>
              <a:ext cx="5098256" cy="10138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400" tIns="165100" rIns="10340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Proceso que lanza una única vez, al entrar en el runlevel indicado, e INIT esterará su finalización.</a:t>
              </a: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 rot="10800000">
              <a:off x="0" y="3090074"/>
              <a:ext cx="1699418" cy="1559284"/>
            </a:xfrm>
            <a:prstGeom prst="upArrowCallout">
              <a:avLst>
                <a:gd name="adj1" fmla="val 5000"/>
                <a:gd name="adj2" fmla="val 10000"/>
                <a:gd name="adj3" fmla="val 15000"/>
                <a:gd name="adj4" fmla="val 64977"/>
              </a:avLst>
            </a:prstGeom>
            <a:solidFill>
              <a:srgbClr val="2596C7"/>
            </a:solidFill>
            <a:ln w="15875" cap="flat" cmpd="sng">
              <a:solidFill>
                <a:srgbClr val="2596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 txBox="1"/>
            <p:nvPr/>
          </p:nvSpPr>
          <p:spPr>
            <a:xfrm>
              <a:off x="0" y="3090074"/>
              <a:ext cx="1699418" cy="1013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850" tIns="92450" rIns="120850" bIns="92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Sysinit</a:t>
              </a:r>
              <a:endParaRPr/>
            </a:p>
          </p:txBody>
        </p:sp>
        <p:sp>
          <p:nvSpPr>
            <p:cNvPr id="469" name="Google Shape;469;p24"/>
            <p:cNvSpPr/>
            <p:nvPr/>
          </p:nvSpPr>
          <p:spPr>
            <a:xfrm>
              <a:off x="1699418" y="3090074"/>
              <a:ext cx="5098256" cy="1013535"/>
            </a:xfrm>
            <a:prstGeom prst="rect">
              <a:avLst/>
            </a:prstGeom>
            <a:solidFill>
              <a:srgbClr val="CADDEA">
                <a:alpha val="90196"/>
              </a:srgbClr>
            </a:solidFill>
            <a:ln w="15875" cap="flat" cmpd="sng">
              <a:solidFill>
                <a:srgbClr val="CADDEA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4"/>
            <p:cNvSpPr txBox="1"/>
            <p:nvPr/>
          </p:nvSpPr>
          <p:spPr>
            <a:xfrm>
              <a:off x="1699418" y="3090074"/>
              <a:ext cx="5098256" cy="1013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400" tIns="165100" rIns="10340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ha de ejecutar durante la inicialización del sistema</a:t>
              </a:r>
              <a:endParaRPr/>
            </a:p>
          </p:txBody>
        </p:sp>
        <p:sp>
          <p:nvSpPr>
            <p:cNvPr id="471" name="Google Shape;471;p24"/>
            <p:cNvSpPr/>
            <p:nvPr/>
          </p:nvSpPr>
          <p:spPr>
            <a:xfrm rot="10800000">
              <a:off x="0" y="1545997"/>
              <a:ext cx="1699418" cy="1559284"/>
            </a:xfrm>
            <a:prstGeom prst="upArrowCallout">
              <a:avLst>
                <a:gd name="adj1" fmla="val 5000"/>
                <a:gd name="adj2" fmla="val 10000"/>
                <a:gd name="adj3" fmla="val 15000"/>
                <a:gd name="adj4" fmla="val 64977"/>
              </a:avLst>
            </a:prstGeom>
            <a:solidFill>
              <a:srgbClr val="25ACC9"/>
            </a:solidFill>
            <a:ln w="15875" cap="flat" cmpd="sng">
              <a:solidFill>
                <a:srgbClr val="25AC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4"/>
            <p:cNvSpPr txBox="1"/>
            <p:nvPr/>
          </p:nvSpPr>
          <p:spPr>
            <a:xfrm>
              <a:off x="0" y="1545997"/>
              <a:ext cx="1699418" cy="1013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850" tIns="92450" rIns="120850" bIns="92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Initdefault</a:t>
              </a:r>
              <a:endParaRPr/>
            </a:p>
          </p:txBody>
        </p:sp>
        <p:sp>
          <p:nvSpPr>
            <p:cNvPr id="473" name="Google Shape;473;p24"/>
            <p:cNvSpPr/>
            <p:nvPr/>
          </p:nvSpPr>
          <p:spPr>
            <a:xfrm>
              <a:off x="1699418" y="1545997"/>
              <a:ext cx="5098256" cy="1013535"/>
            </a:xfrm>
            <a:prstGeom prst="rect">
              <a:avLst/>
            </a:prstGeom>
            <a:solidFill>
              <a:srgbClr val="CAE2EA">
                <a:alpha val="90196"/>
              </a:srgbClr>
            </a:solidFill>
            <a:ln w="15875" cap="flat" cmpd="sng">
              <a:solidFill>
                <a:srgbClr val="CAE2EA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4"/>
            <p:cNvSpPr txBox="1"/>
            <p:nvPr/>
          </p:nvSpPr>
          <p:spPr>
            <a:xfrm>
              <a:off x="1699418" y="1545997"/>
              <a:ext cx="5098256" cy="1013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400" tIns="165100" rIns="10340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Indica en que nivel de operación ha de entrar primero</a:t>
              </a:r>
              <a:endParaRPr/>
            </a:p>
          </p:txBody>
        </p:sp>
        <p:sp>
          <p:nvSpPr>
            <p:cNvPr id="475" name="Google Shape;475;p24"/>
            <p:cNvSpPr/>
            <p:nvPr/>
          </p:nvSpPr>
          <p:spPr>
            <a:xfrm rot="10800000">
              <a:off x="0" y="1920"/>
              <a:ext cx="1699418" cy="1013535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2383C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4"/>
            <p:cNvSpPr txBox="1"/>
            <p:nvPr/>
          </p:nvSpPr>
          <p:spPr>
            <a:xfrm>
              <a:off x="0" y="1920"/>
              <a:ext cx="1699418" cy="658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850" tIns="92450" rIns="120850" bIns="92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Indica la forma de ejecución de la tarea, respondiendo a la pregunta ¿Cómo?</a:t>
              </a:r>
              <a:endParaRPr/>
            </a:p>
          </p:txBody>
        </p:sp>
        <p:sp>
          <p:nvSpPr>
            <p:cNvPr id="477" name="Google Shape;477;p24"/>
            <p:cNvSpPr/>
            <p:nvPr/>
          </p:nvSpPr>
          <p:spPr>
            <a:xfrm rot="10800000">
              <a:off x="0" y="1920"/>
              <a:ext cx="1699418" cy="1559284"/>
            </a:xfrm>
            <a:prstGeom prst="upArrowCallout">
              <a:avLst>
                <a:gd name="adj1" fmla="val 5000"/>
                <a:gd name="adj2" fmla="val 10000"/>
                <a:gd name="adj3" fmla="val 15000"/>
                <a:gd name="adj4" fmla="val 64977"/>
              </a:avLst>
            </a:prstGeom>
            <a:solidFill>
              <a:srgbClr val="26C3CB"/>
            </a:solidFill>
            <a:ln w="15875" cap="flat" cmpd="sng">
              <a:solidFill>
                <a:srgbClr val="26C3C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4"/>
            <p:cNvSpPr txBox="1"/>
            <p:nvPr/>
          </p:nvSpPr>
          <p:spPr>
            <a:xfrm>
              <a:off x="0" y="1920"/>
              <a:ext cx="1699418" cy="658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850" tIns="92450" rIns="120850" bIns="92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E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Indica la forma de ejecución de la tarea, respondiendo a la pregunta ¿Cómo?</a:t>
              </a:r>
              <a:endParaRPr/>
            </a:p>
          </p:txBody>
        </p:sp>
        <p:sp>
          <p:nvSpPr>
            <p:cNvPr id="479" name="Google Shape;479;p24"/>
            <p:cNvSpPr/>
            <p:nvPr/>
          </p:nvSpPr>
          <p:spPr>
            <a:xfrm>
              <a:off x="1699418" y="1920"/>
              <a:ext cx="5098256" cy="1013535"/>
            </a:xfrm>
            <a:prstGeom prst="rect">
              <a:avLst/>
            </a:prstGeom>
            <a:solidFill>
              <a:srgbClr val="CAE8EB">
                <a:alpha val="90196"/>
              </a:srgbClr>
            </a:solidFill>
            <a:ln w="15875" cap="flat" cmpd="sng">
              <a:solidFill>
                <a:srgbClr val="CAE8EB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5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 txBox="1"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ES" sz="3600">
                <a:solidFill>
                  <a:srgbClr val="FFFFFF"/>
                </a:solidFill>
              </a:rPr>
              <a:t>Acción</a:t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8" name="Google Shape;488;p25"/>
          <p:cNvGrpSpPr/>
          <p:nvPr/>
        </p:nvGrpSpPr>
        <p:grpSpPr>
          <a:xfrm>
            <a:off x="4741863" y="710719"/>
            <a:ext cx="6797675" cy="5507999"/>
            <a:chOff x="0" y="70956"/>
            <a:chExt cx="6797675" cy="5507999"/>
          </a:xfrm>
        </p:grpSpPr>
        <p:sp>
          <p:nvSpPr>
            <p:cNvPr id="489" name="Google Shape;489;p25"/>
            <p:cNvSpPr/>
            <p:nvPr/>
          </p:nvSpPr>
          <p:spPr>
            <a:xfrm>
              <a:off x="0" y="70956"/>
              <a:ext cx="6797675" cy="599625"/>
            </a:xfrm>
            <a:prstGeom prst="roundRect">
              <a:avLst>
                <a:gd name="adj" fmla="val 16667"/>
              </a:avLst>
            </a:prstGeom>
            <a:solidFill>
              <a:srgbClr val="3B8850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5"/>
            <p:cNvSpPr txBox="1"/>
            <p:nvPr/>
          </p:nvSpPr>
          <p:spPr>
            <a:xfrm>
              <a:off x="29271" y="100227"/>
              <a:ext cx="6739133" cy="541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E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Powerfail</a:t>
              </a:r>
              <a:endParaRPr/>
            </a:p>
          </p:txBody>
        </p:sp>
        <p:sp>
          <p:nvSpPr>
            <p:cNvPr id="491" name="Google Shape;491;p25"/>
            <p:cNvSpPr/>
            <p:nvPr/>
          </p:nvSpPr>
          <p:spPr>
            <a:xfrm>
              <a:off x="0" y="670581"/>
              <a:ext cx="6797675" cy="41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5"/>
            <p:cNvSpPr txBox="1"/>
            <p:nvPr/>
          </p:nvSpPr>
          <p:spPr>
            <a:xfrm>
              <a:off x="0" y="670581"/>
              <a:ext cx="6797675" cy="41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5825" tIns="31750" rIns="177800" bIns="317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ejecuta al detectar un fallo en la alimentación.</a:t>
              </a:r>
              <a:endParaRPr/>
            </a:p>
          </p:txBody>
        </p:sp>
        <p:sp>
          <p:nvSpPr>
            <p:cNvPr id="493" name="Google Shape;493;p25"/>
            <p:cNvSpPr/>
            <p:nvPr/>
          </p:nvSpPr>
          <p:spPr>
            <a:xfrm>
              <a:off x="0" y="1084581"/>
              <a:ext cx="6797675" cy="599625"/>
            </a:xfrm>
            <a:prstGeom prst="roundRect">
              <a:avLst>
                <a:gd name="adj" fmla="val 16667"/>
              </a:avLst>
            </a:prstGeom>
            <a:solidFill>
              <a:srgbClr val="448F6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5"/>
            <p:cNvSpPr txBox="1"/>
            <p:nvPr/>
          </p:nvSpPr>
          <p:spPr>
            <a:xfrm>
              <a:off x="29271" y="1113852"/>
              <a:ext cx="6739133" cy="541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E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Powerokwait</a:t>
              </a:r>
              <a:endParaRPr/>
            </a:p>
          </p:txBody>
        </p:sp>
        <p:sp>
          <p:nvSpPr>
            <p:cNvPr id="495" name="Google Shape;495;p25"/>
            <p:cNvSpPr/>
            <p:nvPr/>
          </p:nvSpPr>
          <p:spPr>
            <a:xfrm>
              <a:off x="0" y="1684206"/>
              <a:ext cx="6797675" cy="41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5"/>
            <p:cNvSpPr txBox="1"/>
            <p:nvPr/>
          </p:nvSpPr>
          <p:spPr>
            <a:xfrm>
              <a:off x="0" y="1684206"/>
              <a:ext cx="6797675" cy="41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5825" tIns="31750" rIns="177800" bIns="317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ejecuta al recuperar la alimentación tras un fallo.</a:t>
              </a: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0" y="2098206"/>
              <a:ext cx="6797675" cy="599625"/>
            </a:xfrm>
            <a:prstGeom prst="roundRect">
              <a:avLst>
                <a:gd name="adj" fmla="val 16667"/>
              </a:avLst>
            </a:prstGeom>
            <a:solidFill>
              <a:srgbClr val="4C9679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5"/>
            <p:cNvSpPr txBox="1"/>
            <p:nvPr/>
          </p:nvSpPr>
          <p:spPr>
            <a:xfrm>
              <a:off x="29271" y="2127477"/>
              <a:ext cx="6739133" cy="541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E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Respawn</a:t>
              </a:r>
              <a:endParaRPr/>
            </a:p>
          </p:txBody>
        </p:sp>
        <p:sp>
          <p:nvSpPr>
            <p:cNvPr id="499" name="Google Shape;499;p25"/>
            <p:cNvSpPr/>
            <p:nvPr/>
          </p:nvSpPr>
          <p:spPr>
            <a:xfrm>
              <a:off x="0" y="2697831"/>
              <a:ext cx="6797675" cy="41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5"/>
            <p:cNvSpPr txBox="1"/>
            <p:nvPr/>
          </p:nvSpPr>
          <p:spPr>
            <a:xfrm>
              <a:off x="0" y="2697831"/>
              <a:ext cx="6797675" cy="41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5825" tIns="31750" rIns="177800" bIns="317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relanza el proceso si este muere.</a:t>
              </a:r>
              <a:endParaRPr/>
            </a:p>
          </p:txBody>
        </p:sp>
        <p:sp>
          <p:nvSpPr>
            <p:cNvPr id="501" name="Google Shape;501;p25"/>
            <p:cNvSpPr/>
            <p:nvPr/>
          </p:nvSpPr>
          <p:spPr>
            <a:xfrm>
              <a:off x="0" y="3111831"/>
              <a:ext cx="6797675" cy="599625"/>
            </a:xfrm>
            <a:prstGeom prst="roundRect">
              <a:avLst>
                <a:gd name="adj" fmla="val 16667"/>
              </a:avLst>
            </a:prstGeom>
            <a:solidFill>
              <a:srgbClr val="559D8D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5"/>
            <p:cNvSpPr txBox="1"/>
            <p:nvPr/>
          </p:nvSpPr>
          <p:spPr>
            <a:xfrm>
              <a:off x="29271" y="3141102"/>
              <a:ext cx="6739133" cy="541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E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Once</a:t>
              </a:r>
              <a:endParaRPr/>
            </a:p>
          </p:txBody>
        </p:sp>
        <p:sp>
          <p:nvSpPr>
            <p:cNvPr id="503" name="Google Shape;503;p25"/>
            <p:cNvSpPr/>
            <p:nvPr/>
          </p:nvSpPr>
          <p:spPr>
            <a:xfrm>
              <a:off x="0" y="3711456"/>
              <a:ext cx="6797675" cy="633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5"/>
            <p:cNvSpPr txBox="1"/>
            <p:nvPr/>
          </p:nvSpPr>
          <p:spPr>
            <a:xfrm>
              <a:off x="0" y="3711456"/>
              <a:ext cx="6797675" cy="633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5825" tIns="31750" rIns="177800" bIns="317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proceso se ejecuta una única vez, al entrar al runlevel indicado</a:t>
              </a:r>
              <a:endParaRPr/>
            </a:p>
          </p:txBody>
        </p:sp>
        <p:sp>
          <p:nvSpPr>
            <p:cNvPr id="505" name="Google Shape;505;p25"/>
            <p:cNvSpPr/>
            <p:nvPr/>
          </p:nvSpPr>
          <p:spPr>
            <a:xfrm>
              <a:off x="0" y="4345393"/>
              <a:ext cx="6797675" cy="599625"/>
            </a:xfrm>
            <a:prstGeom prst="roundRect">
              <a:avLst>
                <a:gd name="adj" fmla="val 16667"/>
              </a:avLst>
            </a:prstGeom>
            <a:solidFill>
              <a:srgbClr val="60A29E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5"/>
            <p:cNvSpPr txBox="1"/>
            <p:nvPr/>
          </p:nvSpPr>
          <p:spPr>
            <a:xfrm>
              <a:off x="29271" y="4374664"/>
              <a:ext cx="6739133" cy="541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E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Ctrl+alt+del</a:t>
              </a:r>
              <a:endParaRPr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25"/>
            <p:cNvSpPr/>
            <p:nvPr/>
          </p:nvSpPr>
          <p:spPr>
            <a:xfrm>
              <a:off x="0" y="4945018"/>
              <a:ext cx="6797675" cy="633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5"/>
            <p:cNvSpPr txBox="1"/>
            <p:nvPr/>
          </p:nvSpPr>
          <p:spPr>
            <a:xfrm>
              <a:off x="0" y="4945018"/>
              <a:ext cx="6797675" cy="633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5825" tIns="31750" rIns="177800" bIns="317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ejecuta si alguien ha pulsado esta combinación de teclas desde la consola del sistema.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QUE ES EL SYSINIT</a:t>
            </a:r>
            <a:endParaRPr/>
          </a:p>
        </p:txBody>
      </p:sp>
      <p:grpSp>
        <p:nvGrpSpPr>
          <p:cNvPr id="514" name="Google Shape;514;p26"/>
          <p:cNvGrpSpPr/>
          <p:nvPr/>
        </p:nvGrpSpPr>
        <p:grpSpPr>
          <a:xfrm>
            <a:off x="1096963" y="1846263"/>
            <a:ext cx="10058399" cy="4022724"/>
            <a:chOff x="0" y="0"/>
            <a:chExt cx="10058399" cy="4022724"/>
          </a:xfrm>
        </p:grpSpPr>
        <p:sp>
          <p:nvSpPr>
            <p:cNvPr id="515" name="Google Shape;515;p26"/>
            <p:cNvSpPr/>
            <p:nvPr/>
          </p:nvSpPr>
          <p:spPr>
            <a:xfrm>
              <a:off x="0" y="0"/>
              <a:ext cx="4022724" cy="402272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19ACE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6"/>
            <p:cNvSpPr/>
            <p:nvPr/>
          </p:nvSpPr>
          <p:spPr>
            <a:xfrm>
              <a:off x="2011362" y="0"/>
              <a:ext cx="8047037" cy="402272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5875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6"/>
            <p:cNvSpPr txBox="1"/>
            <p:nvPr/>
          </p:nvSpPr>
          <p:spPr>
            <a:xfrm>
              <a:off x="2011362" y="0"/>
              <a:ext cx="8047037" cy="64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sysinit is a system initialization and daemon management scheme for Linux (and possibly other Unix-like operating systems).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422386" y="643635"/>
              <a:ext cx="3177952" cy="3177952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19ACE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2011362" y="643635"/>
              <a:ext cx="8047037" cy="317795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5875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6"/>
            <p:cNvSpPr txBox="1"/>
            <p:nvPr/>
          </p:nvSpPr>
          <p:spPr>
            <a:xfrm>
              <a:off x="2011362" y="643635"/>
              <a:ext cx="8047037" cy="643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system initialization portion has no external requirements except a working BASH shell.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844772" y="1287272"/>
              <a:ext cx="2333180" cy="2333180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19ACE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2011362" y="1287272"/>
              <a:ext cx="8047037" cy="233318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5875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6"/>
            <p:cNvSpPr txBox="1"/>
            <p:nvPr/>
          </p:nvSpPr>
          <p:spPr>
            <a:xfrm>
              <a:off x="2011362" y="1287272"/>
              <a:ext cx="8047037" cy="643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daemon management portion requires a working BASH shell and either </a:t>
              </a:r>
              <a:r>
                <a:rPr lang="es-ES" sz="1800" b="1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runit</a:t>
              </a: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or </a:t>
              </a:r>
              <a:r>
                <a:rPr lang="es-ES" sz="1800" b="1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daemontools</a:t>
              </a: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1267158" y="1930908"/>
              <a:ext cx="1488408" cy="1488408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19ACE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2011362" y="1930908"/>
              <a:ext cx="8047037" cy="1488408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5875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6"/>
            <p:cNvSpPr txBox="1"/>
            <p:nvPr/>
          </p:nvSpPr>
          <p:spPr>
            <a:xfrm>
              <a:off x="2011362" y="1930908"/>
              <a:ext cx="8047037" cy="643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There are additional scripts that work with runit as process number one.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1689544" y="2574544"/>
              <a:ext cx="643635" cy="643635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19ACE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2011362" y="2574544"/>
              <a:ext cx="8047037" cy="643635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5875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6"/>
            <p:cNvSpPr txBox="1"/>
            <p:nvPr/>
          </p:nvSpPr>
          <p:spPr>
            <a:xfrm>
              <a:off x="2011362" y="2574544"/>
              <a:ext cx="8047037" cy="64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You may use it under the terms of the </a:t>
              </a:r>
              <a:r>
                <a:rPr lang="es-ES" sz="1800" b="1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GNU General Public License</a:t>
              </a: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7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118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s-ES"/>
              <a:t>Sysinit       /etc/rc.d/rc.sysinit  </a:t>
            </a:r>
            <a:endParaRPr/>
          </a:p>
        </p:txBody>
      </p:sp>
      <p:grpSp>
        <p:nvGrpSpPr>
          <p:cNvPr id="535" name="Google Shape;535;p27"/>
          <p:cNvGrpSpPr/>
          <p:nvPr/>
        </p:nvGrpSpPr>
        <p:grpSpPr>
          <a:xfrm>
            <a:off x="0" y="1339403"/>
            <a:ext cx="12192000" cy="4740596"/>
            <a:chOff x="0" y="0"/>
            <a:chExt cx="12192000" cy="4740596"/>
          </a:xfrm>
        </p:grpSpPr>
        <p:sp>
          <p:nvSpPr>
            <p:cNvPr id="536" name="Google Shape;536;p27"/>
            <p:cNvSpPr/>
            <p:nvPr/>
          </p:nvSpPr>
          <p:spPr>
            <a:xfrm>
              <a:off x="0" y="1422179"/>
              <a:ext cx="12192000" cy="1896238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CBE2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6295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7"/>
            <p:cNvSpPr txBox="1"/>
            <p:nvPr/>
          </p:nvSpPr>
          <p:spPr>
            <a:xfrm>
              <a:off x="6295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define PATH</a:t>
              </a: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205927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923285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7"/>
            <p:cNvSpPr txBox="1"/>
            <p:nvPr/>
          </p:nvSpPr>
          <p:spPr>
            <a:xfrm>
              <a:off x="923285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Comprueba si hay red instalada</a:t>
              </a:r>
              <a:endParaRPr/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1122916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1840274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7"/>
            <p:cNvSpPr txBox="1"/>
            <p:nvPr/>
          </p:nvSpPr>
          <p:spPr>
            <a:xfrm>
              <a:off x="1840274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activa el SWAP swapon –a</a:t>
              </a:r>
              <a:endParaRPr/>
            </a:p>
          </p:txBody>
        </p:sp>
        <p:sp>
          <p:nvSpPr>
            <p:cNvPr id="545" name="Google Shape;545;p27"/>
            <p:cNvSpPr/>
            <p:nvPr/>
          </p:nvSpPr>
          <p:spPr>
            <a:xfrm>
              <a:off x="2039906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2757264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7"/>
            <p:cNvSpPr txBox="1"/>
            <p:nvPr/>
          </p:nvSpPr>
          <p:spPr>
            <a:xfrm>
              <a:off x="2757264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define pc y dominio</a:t>
              </a:r>
              <a:endParaRPr/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2956896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3674253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7"/>
            <p:cNvSpPr txBox="1"/>
            <p:nvPr/>
          </p:nvSpPr>
          <p:spPr>
            <a:xfrm>
              <a:off x="3674253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Limpieza del sistema de archivos</a:t>
              </a: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3873885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4591243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7"/>
            <p:cNvSpPr txBox="1"/>
            <p:nvPr/>
          </p:nvSpPr>
          <p:spPr>
            <a:xfrm>
              <a:off x="4591243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 archivo raíz es correcto se realiza montaje</a:t>
              </a:r>
              <a:endParaRPr/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4790875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5508233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7"/>
            <p:cNvSpPr txBox="1"/>
            <p:nvPr/>
          </p:nvSpPr>
          <p:spPr>
            <a:xfrm>
              <a:off x="5508233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montan archivos definidos en /etc / fstab</a:t>
              </a: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5707864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6425222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7"/>
            <p:cNvSpPr txBox="1"/>
            <p:nvPr/>
          </p:nvSpPr>
          <p:spPr>
            <a:xfrm>
              <a:off x="6425222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Activación de cuotas de disco</a:t>
              </a: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6624854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7342212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7"/>
            <p:cNvSpPr txBox="1"/>
            <p:nvPr/>
          </p:nvSpPr>
          <p:spPr>
            <a:xfrm>
              <a:off x="7342212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Elimina temporales</a:t>
              </a: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7541844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8259201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7"/>
            <p:cNvSpPr txBox="1"/>
            <p:nvPr/>
          </p:nvSpPr>
          <p:spPr>
            <a:xfrm>
              <a:off x="8259201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activa reloj</a:t>
              </a:r>
              <a:endParaRPr/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8458833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9176191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7"/>
            <p:cNvSpPr txBox="1"/>
            <p:nvPr/>
          </p:nvSpPr>
          <p:spPr>
            <a:xfrm>
              <a:off x="9176191" y="0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inicial líneas serie</a:t>
              </a:r>
              <a:endParaRPr/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9375823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10093181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7"/>
            <p:cNvSpPr txBox="1"/>
            <p:nvPr/>
          </p:nvSpPr>
          <p:spPr>
            <a:xfrm>
              <a:off x="10093181" y="2844358"/>
              <a:ext cx="873323" cy="18962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Activación de números aleatorios</a:t>
              </a: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10292813" y="2133268"/>
              <a:ext cx="474059" cy="474059"/>
            </a:xfrm>
            <a:prstGeom prst="ellipse">
              <a:avLst/>
            </a:prstGeom>
            <a:gradFill>
              <a:gsLst>
                <a:gs pos="0">
                  <a:srgbClr val="8DC8F0"/>
                </a:gs>
                <a:gs pos="45000">
                  <a:srgbClr val="A1D2F3"/>
                </a:gs>
                <a:gs pos="100000">
                  <a:srgbClr val="A5D7FD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" name="Google Shape;573;p27"/>
          <p:cNvSpPr/>
          <p:nvPr/>
        </p:nvSpPr>
        <p:spPr>
          <a:xfrm>
            <a:off x="1180730" y="1499833"/>
            <a:ext cx="2485748" cy="86113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30286" y="120233"/>
                </a:moveTo>
                <a:lnTo>
                  <a:pt x="44000" y="167165"/>
                </a:lnTo>
              </a:path>
            </a:pathLst>
          </a:custGeom>
          <a:solidFill>
            <a:schemeClr val="accen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swapping es el proceso por el que una página de memoria se copia en un espacio del disco configurado previamente para ello, llamado espacio de swap </a:t>
            </a: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2423604" y="5193437"/>
            <a:ext cx="1926454" cy="99429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46958" y="0"/>
                </a:moveTo>
                <a:lnTo>
                  <a:pt x="43585" y="-58928"/>
                </a:lnTo>
              </a:path>
            </a:pathLst>
          </a:custGeom>
          <a:solidFill>
            <a:schemeClr val="accen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caso de disponer de una red se define nombre de la pc y su dominio</a:t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6374167" y="5308847"/>
            <a:ext cx="2166151" cy="87888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44099" y="-1742"/>
                </a:moveTo>
                <a:lnTo>
                  <a:pt x="34656" y="-81970"/>
                </a:lnTo>
              </a:path>
            </a:pathLst>
          </a:custGeom>
          <a:solidFill>
            <a:schemeClr val="accen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están activadas, así limitamos cantidad de disco asociada a cada usuario</a:t>
            </a: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9397013" y="6023499"/>
            <a:ext cx="2334827" cy="81674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58897" y="-978"/>
                </a:moveTo>
                <a:lnTo>
                  <a:pt x="50730" y="-165000"/>
                </a:lnTo>
              </a:path>
            </a:pathLst>
          </a:custGeom>
          <a:solidFill>
            <a:schemeClr val="accen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activan mediante un generador de números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8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8"/>
          <p:cNvSpPr txBox="1"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ES" sz="3600">
                <a:solidFill>
                  <a:srgbClr val="FFFFFF"/>
                </a:solidFill>
              </a:rPr>
              <a:t>Sysinit</a:t>
            </a:r>
            <a:endParaRPr/>
          </a:p>
        </p:txBody>
      </p:sp>
      <p:sp>
        <p:nvSpPr>
          <p:cNvPr id="584" name="Google Shape;584;p2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5" name="Google Shape;585;p28"/>
          <p:cNvGrpSpPr/>
          <p:nvPr/>
        </p:nvGrpSpPr>
        <p:grpSpPr>
          <a:xfrm>
            <a:off x="4741863" y="640452"/>
            <a:ext cx="6797675" cy="5648532"/>
            <a:chOff x="0" y="689"/>
            <a:chExt cx="6797675" cy="5648532"/>
          </a:xfrm>
        </p:grpSpPr>
        <p:sp>
          <p:nvSpPr>
            <p:cNvPr id="586" name="Google Shape;586;p28"/>
            <p:cNvSpPr/>
            <p:nvPr/>
          </p:nvSpPr>
          <p:spPr>
            <a:xfrm>
              <a:off x="0" y="689"/>
              <a:ext cx="6797675" cy="16138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488194" y="363809"/>
              <a:ext cx="887626" cy="88762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1864015" y="689"/>
              <a:ext cx="4933659" cy="161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8"/>
            <p:cNvSpPr txBox="1"/>
            <p:nvPr/>
          </p:nvSpPr>
          <p:spPr>
            <a:xfrm>
              <a:off x="1864015" y="689"/>
              <a:ext cx="4933659" cy="161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800" tIns="170800" rIns="170800" bIns="17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el archivo  /etc/rc.d/rc.sysinit  podremos incluir cualquier otra orden que deseemos ejecutar para todos los niveles en el arranque.</a:t>
              </a: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0" y="2018022"/>
              <a:ext cx="6797675" cy="16138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488194" y="2381142"/>
              <a:ext cx="887626" cy="88762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1864015" y="2018022"/>
              <a:ext cx="4933659" cy="161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8"/>
            <p:cNvSpPr txBox="1"/>
            <p:nvPr/>
          </p:nvSpPr>
          <p:spPr>
            <a:xfrm>
              <a:off x="1864015" y="2018022"/>
              <a:ext cx="4933659" cy="161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800" tIns="170800" rIns="170800" bIns="17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Rc ejecutara otros programas de Shell incluidos en los subdirectorios rc0, rc1…rc6.d</a:t>
              </a:r>
              <a:endParaRPr/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0" y="4035355"/>
              <a:ext cx="6797675" cy="16138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488194" y="4398475"/>
              <a:ext cx="887626" cy="88762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1864015" y="4035355"/>
              <a:ext cx="4933659" cy="161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8"/>
            <p:cNvSpPr txBox="1"/>
            <p:nvPr/>
          </p:nvSpPr>
          <p:spPr>
            <a:xfrm>
              <a:off x="1864015" y="4035355"/>
              <a:ext cx="4933659" cy="161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800" tIns="170800" rIns="170800" bIns="17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 posible añadir nuevas entradas(Shell scripts) en estos subdirectorios para definir aquellas utilidades que deseemos activar en cada uno de los distintos niveles.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B8ECAFE4FBAA243A9A0E1DA13C40749" ma:contentTypeVersion="1" ma:contentTypeDescription="Crear nuevo documento." ma:contentTypeScope="" ma:versionID="0ba2691eae4b4d74e07209237f3ed2f9">
  <xsd:schema xmlns:xsd="http://www.w3.org/2001/XMLSchema" xmlns:xs="http://www.w3.org/2001/XMLSchema" xmlns:p="http://schemas.microsoft.com/office/2006/metadata/properties" xmlns:ns2="0fc322d9-97e0-4c26-a5aa-69593bafcd35" targetNamespace="http://schemas.microsoft.com/office/2006/metadata/properties" ma:root="true" ma:fieldsID="26aa4e20ca0500a4b8e3fe8d43f988c5" ns2:_="">
    <xsd:import namespace="0fc322d9-97e0-4c26-a5aa-69593bafcd35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c322d9-97e0-4c26-a5aa-69593bafcd35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fc322d9-97e0-4c26-a5aa-69593bafcd3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021BD8-A17A-4044-BECD-CF2FC8D23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c322d9-97e0-4c26-a5aa-69593bafcd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C75C33-2C22-41E2-BB0A-B5B1B8869869}">
  <ds:schemaRefs>
    <ds:schemaRef ds:uri="http://purl.org/dc/dcmitype/"/>
    <ds:schemaRef ds:uri="http://schemas.microsoft.com/office/2006/documentManagement/types"/>
    <ds:schemaRef ds:uri="0fc322d9-97e0-4c26-a5aa-69593bafcd35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CECEA17-4127-4AE9-8CAC-C446D812F0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1423</Words>
  <Application>Microsoft Office PowerPoint</Application>
  <PresentationFormat>Panorámica</PresentationFormat>
  <Paragraphs>147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1" baseType="lpstr">
      <vt:lpstr>Arial</vt:lpstr>
      <vt:lpstr>Calibri</vt:lpstr>
      <vt:lpstr>Retrospección</vt:lpstr>
      <vt:lpstr>Unidad 2 Inicio: Arranque del sistema</vt:lpstr>
      <vt:lpstr>Objetivo Específico </vt:lpstr>
      <vt:lpstr>TEMARIO DE LA UNIDAD</vt:lpstr>
      <vt:lpstr>Introducción</vt:lpstr>
      <vt:lpstr>2.1 Proceso de arranque. </vt:lpstr>
      <vt:lpstr>ROM</vt:lpstr>
      <vt:lpstr>2.1 Proceso de arranque. </vt:lpstr>
      <vt:lpstr>¿Que es el Boot?</vt:lpstr>
      <vt:lpstr>En esta fase el sistema se inicia pasando el control a la BIOS  </vt:lpstr>
      <vt:lpstr>Gestores de arranque</vt:lpstr>
      <vt:lpstr>Post -&gt; Tareas que realiza: </vt:lpstr>
      <vt:lpstr>Fase 2: BootLoader </vt:lpstr>
      <vt:lpstr>Gestores de arranque ejemplos</vt:lpstr>
      <vt:lpstr>Actividad</vt:lpstr>
      <vt:lpstr>Bootloaders ligeros</vt:lpstr>
      <vt:lpstr>Fase 3: Kernel</vt:lpstr>
      <vt:lpstr>Fase 4: Init  -&gt;   ¿Qué es el Init ?</vt:lpstr>
      <vt:lpstr>Archivo /etc / inittab</vt:lpstr>
      <vt:lpstr>Cat /etc / inittab</vt:lpstr>
      <vt:lpstr>2.2 Niveles de operación del sistema. </vt:lpstr>
      <vt:lpstr>Cada línea del fichero /etc/inittab esta formado por 4 campos</vt:lpstr>
      <vt:lpstr>Código</vt:lpstr>
      <vt:lpstr>Niveles de ejecución del inittab (runlevel)</vt:lpstr>
      <vt:lpstr>Acción</vt:lpstr>
      <vt:lpstr>Acción</vt:lpstr>
      <vt:lpstr>QUE ES EL SYSINIT</vt:lpstr>
      <vt:lpstr>Sysinit       /etc/rc.d/rc.sysinit  </vt:lpstr>
      <vt:lpstr>Sysinit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yeininia</dc:creator>
  <cp:lastModifiedBy>JOSE AMBROSIO BALTAZAR</cp:lastModifiedBy>
  <cp:revision>1</cp:revision>
  <dcterms:created xsi:type="dcterms:W3CDTF">2016-07-04T16:44:03Z</dcterms:created>
  <dcterms:modified xsi:type="dcterms:W3CDTF">2026-02-20T02:47:50Z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0x0101004B8ECAFE4FBAA243A9A0E1DA13C40749</vt:lpwstr>
  </property>
</Properties>
</file>